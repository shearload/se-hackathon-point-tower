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69" r:id="rId3"/>
    <p:sldId id="258" r:id="rId4"/>
    <p:sldId id="265" r:id="rId5"/>
    <p:sldId id="259" r:id="rId6"/>
    <p:sldId id="260" r:id="rId7"/>
    <p:sldId id="267" r:id="rId8"/>
    <p:sldId id="261" r:id="rId9"/>
    <p:sldId id="263" r:id="rId10"/>
    <p:sldId id="266"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F3F7"/>
    <a:srgbClr val="F5F2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99" dt="2026-10-28T00:04:20.060"/>
    <p1510:client id="{08C4C933-D26C-4F00-B64F-4D8C6F07DDE8}" v="3590" dt="2026-10-27T23:28:12.415"/>
    <p1510:client id="{1800095C-2C74-0CFB-4292-5DE76FCEB3F4}" v="40" dt="2026-10-27T23:18:20.395"/>
    <p1510:client id="{3BDF9E34-95C0-D44F-E132-3C087D7D091E}" v="4" dt="2026-10-27T22:20:20.163"/>
    <p1510:client id="{547285D6-CFE7-047C-241D-FB9AC995DFD0}" v="5" dt="2026-10-27T23:46:12.585"/>
    <p1510:client id="{8BE8B1D1-900E-F37F-C988-62BAFE40A7E5}" v="9" dt="2026-10-27T23:43:02.146"/>
    <p1510:client id="{DB768942-244A-CDAB-70F1-D487C3C4E4AA}" v="1541" dt="2026-10-27T23:12:13.743"/>
    <p1510:client id="{EFA5EAC6-8BAA-443B-8A8B-A4E6EA533C0E}" v="131" dt="2026-10-27T23:22:39.6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Arthur</a:t>
            </a:r>
          </a:p>
          <a:p>
            <a:endParaRPr lang="en-US">
              <a:solidFill>
                <a:srgbClr val="000000"/>
              </a:solidFill>
            </a:endParaRPr>
          </a:p>
          <a:p>
            <a:endParaRPr lang="en-US"/>
          </a:p>
          <a:p>
            <a:endParaRPr lang="en-US"/>
          </a:p>
          <a:p>
            <a:r>
              <a:t>TARGET TIME: 10 seconds.</a:t>
            </a:r>
          </a:p>
          <a:p>
            <a:endParaRPr/>
          </a:p>
          <a:p>
            <a:r>
              <a:t>Introduce SWOOP and expand the acronym. Opening line: SWOOP explores shear wall and outrigger layouts using architectural floor plans and cost/material objectives. Adjust this to match the prototype.</a:t>
            </a:r>
          </a:p>
          <a:p>
            <a:r>
              <a:t>The tower is a temporary AI-generated concept illustration, not a project photograph or analysis result. Replace it with your preferred tower image when ready.</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Arthur</a:t>
            </a:r>
          </a:p>
          <a:p>
            <a:endParaRPr lang="en-US"/>
          </a:p>
          <a:p>
            <a:endParaRPr lang="en-US"/>
          </a:p>
          <a:p>
            <a:r>
              <a:t>TARGET TIME: 15 seconds.</a:t>
            </a:r>
          </a:p>
          <a:p>
            <a:endParaRPr/>
          </a:p>
          <a:p>
            <a:r>
              <a:t>Introduce the nine members briefly, or acknowledge the whole team while names and roles remain on screen. Replace all nine photos, names, and roles. Keep roles to one or two short lines.</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t>Arthur</a:t>
            </a:r>
          </a:p>
          <a:p>
            <a:pPr marL="285750" indent="-285750">
              <a:buFont typeface="Arial"/>
              <a:buChar char="•"/>
            </a:pPr>
            <a:endParaRPr lang="en-US">
              <a:solidFill>
                <a:srgbClr val="000000"/>
              </a:solidFill>
            </a:endParaRPr>
          </a:p>
          <a:p>
            <a:pPr marL="285750" indent="-285750">
              <a:buFont typeface="Calibri"/>
              <a:buChar char="-"/>
            </a:pPr>
            <a:endParaRPr lang="en-US"/>
          </a:p>
          <a:p>
            <a:pPr marL="285750" indent="-285750">
              <a:buFont typeface="Calibri"/>
              <a:buChar char="-"/>
            </a:pPr>
            <a:endParaRPr lang="en-US"/>
          </a:p>
          <a:p>
            <a:pPr marL="285750" lvl="0" indent="-285750">
              <a:buFont typeface="Calibri"/>
              <a:buChar char="-"/>
            </a:pPr>
            <a:r>
              <a:rPr lang="en-US"/>
              <a:t>Current approaches uses approximate hand calcs w/ trial and error methods</a:t>
            </a:r>
          </a:p>
          <a:p>
            <a:pPr marL="285750" lvl="0" indent="-285750">
              <a:buFont typeface="Calibri"/>
              <a:buChar char="-"/>
            </a:pPr>
            <a:r>
              <a:rPr lang="en-US"/>
              <a:t>Optimization routines typically employ material optimization but not </a:t>
            </a:r>
            <a:r>
              <a:rPr lang="en-US" err="1"/>
              <a:t>toplogical</a:t>
            </a:r>
            <a:r>
              <a:rPr lang="en-US"/>
              <a:t> optimization as it's much more difficult to build due to explosion of variables</a:t>
            </a:r>
          </a:p>
          <a:p>
            <a:pPr marL="285750" lvl="0" indent="-285750">
              <a:buFont typeface="Calibri"/>
              <a:buChar char="-"/>
            </a:pPr>
            <a:r>
              <a:rPr lang="en-US"/>
              <a:t>Competing variables (multiple load patterns such as wind and seismic which have very different distribution) and constraints introduce additional complexity in traditional unimodal optimization (optimizing for one target metric)</a:t>
            </a:r>
          </a:p>
          <a:p>
            <a:pPr marL="285750" lvl="0" indent="-285750">
              <a:buFont typeface="Calibri"/>
              <a:buChar char="-"/>
            </a:pPr>
            <a:endParaRPr lang="en-US"/>
          </a:p>
          <a:p>
            <a:pPr marL="285750" lvl="0" indent="-285750">
              <a:buFont typeface="Calibri"/>
              <a:buChar char="-"/>
            </a:pPr>
            <a:endParaRPr lang="en-US"/>
          </a:p>
          <a:p>
            <a:r>
              <a:rPr lang="en-US"/>
              <a:t>Goal: Try and tackle this problem with Agentic AI workflow</a:t>
            </a:r>
          </a:p>
          <a:p>
            <a:pPr marL="285750" lvl="0" indent="-285750">
              <a:buFont typeface="Calibri"/>
              <a:buChar char="-"/>
            </a:pPr>
            <a:r>
              <a:rPr lang="en-US"/>
              <a:t>Workflow building with AI agents flatten/reduces the effort involved in setting up complex workflows such as this</a:t>
            </a:r>
          </a:p>
          <a:p>
            <a:pPr marL="285750" lvl="0" indent="-285750">
              <a:buFont typeface="Calibri"/>
              <a:buChar char="-"/>
            </a:pPr>
            <a:r>
              <a:rPr lang="en-US"/>
              <a:t>Traditionally challenging mathematical and computational problem</a:t>
            </a:r>
          </a:p>
          <a:p>
            <a:pPr marL="285750" lvl="0" indent="-285750">
              <a:buFont typeface="Calibri"/>
              <a:buChar char="-"/>
            </a:pPr>
            <a:r>
              <a:rPr lang="en-US"/>
              <a:t>Gives ability to get to faster schematic, more optimal designs at early stage </a:t>
            </a:r>
          </a:p>
          <a:p>
            <a:pPr marL="285750" lvl="0" indent="-285750">
              <a:buFont typeface="Calibri"/>
              <a:buChar char="-"/>
            </a:pPr>
            <a:r>
              <a:rPr lang="en-US"/>
              <a:t>$ saved</a:t>
            </a:r>
          </a:p>
          <a:p>
            <a:endParaRPr lang="en-US"/>
          </a:p>
          <a:p>
            <a:r>
              <a:rPr lang="en-US"/>
              <a:t>Future/tangential thoughts:</a:t>
            </a:r>
          </a:p>
          <a:p>
            <a:r>
              <a:rPr lang="en-US"/>
              <a:t>Such an approach can extend to other optimization of indeterminate systems with competing variables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1514E9-4290-18B2-7C79-4E642BCD68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AD7E0-6F2E-A657-F99B-5EA35FDFFB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F310F-E319-FAA1-F632-3EC69D31B9C1}"/>
              </a:ext>
            </a:extLst>
          </p:cNvPr>
          <p:cNvSpPr>
            <a:spLocks noGrp="1"/>
          </p:cNvSpPr>
          <p:nvPr>
            <p:ph type="body" idx="1"/>
          </p:nvPr>
        </p:nvSpPr>
        <p:spPr/>
        <p:txBody>
          <a:bodyPr/>
          <a:lstStyle/>
          <a:p>
            <a:r>
              <a:rPr lang="en-US"/>
              <a:t>Arthur</a:t>
            </a:r>
          </a:p>
          <a:p>
            <a:endParaRPr lang="en-US"/>
          </a:p>
          <a:p>
            <a:endParaRPr lang="en-US"/>
          </a:p>
          <a:p>
            <a:r>
              <a:t>TARGET TIME: 20 seconds.</a:t>
            </a:r>
          </a:p>
          <a:p>
            <a:endParaRPr/>
          </a:p>
          <a:p>
            <a:r>
              <a:t>Describe one concrete decision that currently requires repeated manual exploration. Explain the architectural restrictions and the cost/material tradeoffs. Replace the image with a relevant tower, schematic, or project photo. State a measured pain point only if supported.</a:t>
            </a:r>
          </a:p>
          <a:p>
            <a:endParaRPr/>
          </a:p>
          <a:p>
            <a:r>
              <a:t>Presenter: [Name]</a:t>
            </a:r>
          </a:p>
          <a:p>
            <a:r>
              <a:t>Presentation notes: [Add your speaking notes]</a:t>
            </a:r>
          </a:p>
          <a:p>
            <a:r>
              <a:t>Image / evidence sources: [Add where relevant]</a:t>
            </a:r>
          </a:p>
        </p:txBody>
      </p:sp>
      <p:sp>
        <p:nvSpPr>
          <p:cNvPr id="4" name="Slide Number Placeholder 3">
            <a:extLst>
              <a:ext uri="{FF2B5EF4-FFF2-40B4-BE49-F238E27FC236}">
                <a16:creationId xmlns:a16="http://schemas.microsoft.com/office/drawing/2014/main" id="{5829ACC6-C0F3-1250-5E56-1AF5773A51F7}"/>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5796352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30 seconds.</a:t>
            </a:r>
          </a:p>
          <a:p>
            <a:endParaRP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Wyeth</a:t>
            </a:r>
          </a:p>
          <a:p>
            <a:endParaRPr lang="en-US"/>
          </a:p>
          <a:p>
            <a:r>
              <a:t>TARGET TIME: 15 seconds.</a:t>
            </a:r>
          </a:p>
          <a:p>
            <a:endParaRPr/>
          </a:p>
          <a:p>
            <a:r>
              <a:t>Show the actual architectural plan at a readable scale. Point out the core, allowable wall regions, openings, or other relevant constraints. Mention accepted file formats and manual preparation only if implemented. Keep the explanation to one clear point.</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0BC3F5-F563-5803-CA80-6F5CBAEBC3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10651B-3384-8013-EA36-310697D164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EB033-1C33-5CC0-E94D-C140D0E5C029}"/>
              </a:ext>
            </a:extLst>
          </p:cNvPr>
          <p:cNvSpPr>
            <a:spLocks noGrp="1"/>
          </p:cNvSpPr>
          <p:nvPr>
            <p:ph type="body" idx="1"/>
          </p:nvPr>
        </p:nvSpPr>
        <p:spPr/>
        <p:txBody>
          <a:bodyPr/>
          <a:lstStyle/>
          <a:p>
            <a:r>
              <a:rPr lang="en-US"/>
              <a:t>Frank</a:t>
            </a:r>
          </a:p>
          <a:p>
            <a:endParaRPr lang="en-US"/>
          </a:p>
          <a:p>
            <a:r>
              <a:t>TARGET TIME: 15 seconds.</a:t>
            </a:r>
          </a:p>
          <a:p>
            <a:endParaRPr/>
          </a:p>
          <a:p>
            <a:r>
              <a:t>Show the actual architectural plan at a readable scale. Point out the core, allowable wall regions, openings, or other relevant constraints. Mention accepted file formats and manual preparation only if implemented. Keep the explanation to one clear point.</a:t>
            </a:r>
          </a:p>
          <a:p>
            <a:endParaRPr/>
          </a:p>
          <a:p>
            <a:r>
              <a:t>Presenter: [Name]</a:t>
            </a:r>
          </a:p>
          <a:p>
            <a:r>
              <a:t>Presentation notes: [Add your speaking notes]</a:t>
            </a:r>
          </a:p>
          <a:p>
            <a:r>
              <a:t>Image / evidence sources: [Add where relevant]</a:t>
            </a:r>
          </a:p>
        </p:txBody>
      </p:sp>
      <p:sp>
        <p:nvSpPr>
          <p:cNvPr id="4" name="Slide Number Placeholder 3">
            <a:extLst>
              <a:ext uri="{FF2B5EF4-FFF2-40B4-BE49-F238E27FC236}">
                <a16:creationId xmlns:a16="http://schemas.microsoft.com/office/drawing/2014/main" id="{A652A2A1-604F-30EF-3BA0-A8A8FC338EC0}"/>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40057442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Atishay</a:t>
            </a:r>
          </a:p>
          <a:p>
            <a:endParaRPr lang="en-US"/>
          </a:p>
          <a:p>
            <a:r>
              <a:rPr lang="en-US"/>
              <a:t>The aim is to put structural material where it contributes most, while meeting the deflection limits.”</a:t>
            </a:r>
          </a:p>
          <a:p>
            <a:r>
              <a:t>TARGET TIME: 20 seconds.</a:t>
            </a:r>
            <a:endParaRPr lang="en-US"/>
          </a:p>
          <a:p>
            <a:endParaRPr lang="en-US"/>
          </a:p>
          <a:p>
            <a:r>
              <a:rPr lang="en-US"/>
              <a:t>Change to “wall and outrigger optimization”</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Sri</a:t>
            </a:r>
          </a:p>
          <a:p>
            <a:endParaRPr lang="en-US"/>
          </a:p>
          <a:p>
            <a:r>
              <a:t>TARGET TIME: 30 seconds.</a:t>
            </a:r>
          </a:p>
          <a:p>
            <a:endParaRPr/>
          </a:p>
          <a:p>
            <a:r>
              <a:t>Show outputs from an actual application run. Explain the selected shear wall layout and outrigger levels. Give one measured result with its baseline, units, assumptions, and cost scope. Replace the placeholder takeaway. State the main limitation if it affects interpretation.</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399A15-5116-2285-4A19-458A30FC16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22E900-E1FF-8739-7AB3-FDF431D4AB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BE2DB5-FD28-A21D-60A2-7F509920DF3C}"/>
              </a:ext>
            </a:extLst>
          </p:cNvPr>
          <p:cNvSpPr>
            <a:spLocks noGrp="1"/>
          </p:cNvSpPr>
          <p:nvPr>
            <p:ph type="body" idx="1"/>
          </p:nvPr>
        </p:nvSpPr>
        <p:spPr/>
        <p:txBody>
          <a:bodyPr/>
          <a:lstStyle/>
          <a:p>
            <a:r>
              <a:rPr lang="en-US"/>
              <a:t>Sri</a:t>
            </a:r>
          </a:p>
          <a:p>
            <a:endParaRPr lang="en-US"/>
          </a:p>
          <a:p>
            <a:r>
              <a:t>TARGET TIME: 30 seconds.</a:t>
            </a:r>
          </a:p>
          <a:p>
            <a:endParaRPr/>
          </a:p>
          <a:p>
            <a:r>
              <a:t>Describe the actual implemented method in plain language. What model evaluates each layout? What checks reject candidates? What objective and search method rank candidates? Name key simplifications. Use best candidate found unless you can substantiate a global optimum. Insert actual analysis evidence.</a:t>
            </a:r>
          </a:p>
          <a:p>
            <a:endParaRPr/>
          </a:p>
          <a:p>
            <a:r>
              <a:t>Presenter: [Name]</a:t>
            </a:r>
          </a:p>
          <a:p>
            <a:r>
              <a:t>Presentation notes: [Add your speaking notes]</a:t>
            </a:r>
          </a:p>
          <a:p>
            <a:r>
              <a:t>Image / evidence sources: [Add where relevant]</a:t>
            </a:r>
          </a:p>
        </p:txBody>
      </p:sp>
      <p:sp>
        <p:nvSpPr>
          <p:cNvPr id="4" name="Slide Number Placeholder 3">
            <a:extLst>
              <a:ext uri="{FF2B5EF4-FFF2-40B4-BE49-F238E27FC236}">
                <a16:creationId xmlns:a16="http://schemas.microsoft.com/office/drawing/2014/main" id="{4259CBE7-8405-9300-D814-E2B1EC26AE25}"/>
              </a:ext>
            </a:extLst>
          </p:cNvPr>
          <p:cNvSpPr>
            <a:spLocks noGrp="1"/>
          </p:cNvSpPr>
          <p:nvPr>
            <p:ph type="sldNum" idx="5"/>
          </p:nvPr>
        </p:nvSpPr>
        <p:spPr/>
        <p:txBody>
          <a:bodyPr/>
          <a:lstStyle/>
          <a:p>
            <a:endParaRPr/>
          </a:p>
        </p:txBody>
      </p:sp>
    </p:spTree>
    <p:extLst>
      <p:ext uri="{BB962C8B-B14F-4D97-AF65-F5344CB8AC3E}">
        <p14:creationId xmlns:p14="http://schemas.microsoft.com/office/powerpoint/2010/main" val="29007668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TARGET TIME: 10 seconds.</a:t>
            </a:r>
          </a:p>
          <a:p>
            <a:endParaRPr/>
          </a:p>
          <a:p>
            <a:r>
              <a:t>Close with one sentence about the intended benefit and invite questions. Replace the link prompts with final URLs and add hyperlinks. Insert a real QR code after choosing the project URL, and test it from the projected slide.</a:t>
            </a:r>
          </a:p>
          <a:p>
            <a:r>
              <a:t>PACING: Cover 10s, team 15s, motivation 20s, functionality 30s, floor plan 15s, parameters 20s, analysis 30s, output 30s, links 10s. Total 180 seconds.</a:t>
            </a:r>
          </a:p>
          <a:p>
            <a:r>
              <a:t>TEMPLATE USE: Replace bracketed text, insert photos/screenshots over shaded frames, remove unused prompts, and add speaking notes.</a:t>
            </a:r>
          </a:p>
          <a:p>
            <a:endParaRPr/>
          </a:p>
          <a:p>
            <a:r>
              <a:t>Presenter: [Name]</a:t>
            </a:r>
          </a:p>
          <a:p>
            <a:r>
              <a:t>Presentation notes: [Add your speaking notes]</a:t>
            </a:r>
          </a:p>
          <a:p>
            <a:r>
              <a:t>Image / evidence sources: [Add where relevant]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3E0366B1-D62B-4526-9321-77C5D3533B49}"/>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723AFDC3-5B58-4F9D-B0F3-C6DC21AF234A}"/>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5BB4AF80-11F4-4914-8168-38ACECB3E005}"/>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DE06905-D27E-4355-9149-0E946C8F9EE4}"/>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62EB02DC-2F4A-4803-AC5C-DEAA6BA8BF64}"/>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9EBB57EA-B4A6-40FE-8486-FA787AD5E68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E619BCEF-0E4A-41EC-8976-8FA9B90F7F20}"/>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3EA68578-F0A1-4EE4-BF79-B4632788581F}"/>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7FA9F44-41C3-4913-9F72-80D849222DC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B4881769-EEEA-492D-BCBA-4CE889983BA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_ONLY">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320040"/>
            <a:ext cx="11247120"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a:p>
        </p:txBody>
      </p:sp>
    </p:spTree>
    <p:extLst>
      <p:ext uri="{BB962C8B-B14F-4D97-AF65-F5344CB8AC3E}">
        <p14:creationId xmlns:p14="http://schemas.microsoft.com/office/powerpoint/2010/main" val="2557699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13.jpeg"/></Relationships>
</file>

<file path=ppt/slides/_rels/slide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16.jpeg"/></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6.xml"/><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hyperlink" Target="https://github.com/shearload/se-hackathon-point-tower" TargetMode="External"/><Relationship Id="rId2" Type="http://schemas.openxmlformats.org/officeDocument/2006/relationships/notesSlide" Target="../notesSlides/notesSlide11.xml"/><Relationship Id="rId1" Type="http://schemas.openxmlformats.org/officeDocument/2006/relationships/slideLayout" Target="../slideLayouts/slideLayout6.xml"/><Relationship Id="rId4" Type="http://schemas.openxmlformats.org/officeDocument/2006/relationships/image" Target="../media/image20.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B2A"/>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85846B9A-AD88-4179-940D-E7FA08830A52}"/>
              </a:ext>
            </a:extLst>
          </p:cNvPr>
          <p:cNvSpPr>
            <a:spLocks noGrp="1"/>
          </p:cNvSpPr>
          <p:nvPr/>
        </p:nvSpPr>
        <p:spPr>
          <a:xfrm>
            <a:off x="609600" y="1933575"/>
            <a:ext cx="7000875" cy="1676400"/>
          </a:xfrm>
          <a:prstGeom prst="rect">
            <a:avLst/>
          </a:prstGeom>
          <a:noFill/>
          <a:ln w="0">
            <a:noFill/>
          </a:ln>
        </p:spPr>
        <p:txBody>
          <a:bodyPr lIns="0" tIns="0" rIns="0" bIns="0"/>
          <a:lstStyle>
            <a:defPPr>
              <a:defRPr sz="10500" b="1">
                <a:solidFill>
                  <a:srgbClr val="FFFFFF"/>
                </a:solidFill>
              </a:defRPr>
            </a:defPPr>
            <a:lvl1pPr>
              <a:defRPr sz="10500" b="1">
                <a:solidFill>
                  <a:srgbClr val="FFFFFF"/>
                </a:solidFill>
              </a:defRPr>
            </a:lvl1pPr>
            <a:lvl2pPr>
              <a:defRPr sz="10500" b="1">
                <a:solidFill>
                  <a:srgbClr val="FFFFFF"/>
                </a:solidFill>
              </a:defRPr>
            </a:lvl2pPr>
            <a:lvl3pPr>
              <a:defRPr sz="10500" b="1">
                <a:solidFill>
                  <a:srgbClr val="FFFFFF"/>
                </a:solidFill>
              </a:defRPr>
            </a:lvl3pPr>
            <a:lvl4pPr>
              <a:defRPr sz="10500" b="1">
                <a:solidFill>
                  <a:srgbClr val="FFFFFF"/>
                </a:solidFill>
              </a:defRPr>
            </a:lvl4pPr>
            <a:lvl5pPr>
              <a:defRPr sz="10500" b="1">
                <a:solidFill>
                  <a:srgbClr val="FFFFFF"/>
                </a:solidFill>
              </a:defRPr>
            </a:lvl5pPr>
            <a:lvl6pPr>
              <a:defRPr sz="10500" b="1">
                <a:solidFill>
                  <a:srgbClr val="FFFFFF"/>
                </a:solidFill>
              </a:defRPr>
            </a:lvl6pPr>
            <a:lvl7pPr>
              <a:defRPr sz="10500" b="1">
                <a:solidFill>
                  <a:srgbClr val="FFFFFF"/>
                </a:solidFill>
              </a:defRPr>
            </a:lvl7pPr>
            <a:lvl8pPr>
              <a:defRPr sz="10500" b="1">
                <a:solidFill>
                  <a:srgbClr val="FFFFFF"/>
                </a:solidFill>
              </a:defRPr>
            </a:lvl8pPr>
            <a:lvl9pPr>
              <a:defRPr sz="10500" b="1">
                <a:solidFill>
                  <a:srgbClr val="FFFFFF"/>
                </a:solidFill>
              </a:defRPr>
            </a:lvl9pPr>
          </a:lstStyle>
          <a:p>
            <a:pPr>
              <a:defRPr sz="10500" b="1">
                <a:solidFill>
                  <a:srgbClr val="FFFFFF"/>
                </a:solidFill>
              </a:defRPr>
            </a:pPr>
            <a:endParaRPr lang="en-US" sz="10500" b="1">
              <a:solidFill>
                <a:srgbClr val="FFFFFF"/>
              </a:solidFill>
            </a:endParaRPr>
          </a:p>
        </p:txBody>
      </p:sp>
      <p:sp>
        <p:nvSpPr>
          <p:cNvPr id="3" name="Page">
            <a:extLst>
              <a:ext uri="{FF2B5EF4-FFF2-40B4-BE49-F238E27FC236}">
                <a16:creationId xmlns:a16="http://schemas.microsoft.com/office/drawing/2014/main" id="{C1F23C15-CD7A-4329-9AD1-F17F9C740518}"/>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91A9B9"/>
                </a:solidFill>
              </a:defRPr>
            </a:defPPr>
            <a:lvl1pPr>
              <a:defRPr sz="1275" b="0">
                <a:solidFill>
                  <a:srgbClr val="91A9B9"/>
                </a:solidFill>
              </a:defRPr>
            </a:lvl1pPr>
            <a:lvl2pPr>
              <a:defRPr sz="1275" b="0">
                <a:solidFill>
                  <a:srgbClr val="91A9B9"/>
                </a:solidFill>
              </a:defRPr>
            </a:lvl2pPr>
            <a:lvl3pPr>
              <a:defRPr sz="1275" b="0">
                <a:solidFill>
                  <a:srgbClr val="91A9B9"/>
                </a:solidFill>
              </a:defRPr>
            </a:lvl3pPr>
            <a:lvl4pPr>
              <a:defRPr sz="1275" b="0">
                <a:solidFill>
                  <a:srgbClr val="91A9B9"/>
                </a:solidFill>
              </a:defRPr>
            </a:lvl4pPr>
            <a:lvl5pPr>
              <a:defRPr sz="1275" b="0">
                <a:solidFill>
                  <a:srgbClr val="91A9B9"/>
                </a:solidFill>
              </a:defRPr>
            </a:lvl5pPr>
            <a:lvl6pPr>
              <a:defRPr sz="1275" b="0">
                <a:solidFill>
                  <a:srgbClr val="91A9B9"/>
                </a:solidFill>
              </a:defRPr>
            </a:lvl6pPr>
            <a:lvl7pPr>
              <a:defRPr sz="1275" b="0">
                <a:solidFill>
                  <a:srgbClr val="91A9B9"/>
                </a:solidFill>
              </a:defRPr>
            </a:lvl7pPr>
            <a:lvl8pPr>
              <a:defRPr sz="1275" b="0">
                <a:solidFill>
                  <a:srgbClr val="91A9B9"/>
                </a:solidFill>
              </a:defRPr>
            </a:lvl8pPr>
            <a:lvl9pPr>
              <a:defRPr sz="1275" b="0">
                <a:solidFill>
                  <a:srgbClr val="91A9B9"/>
                </a:solidFill>
              </a:defRPr>
            </a:lvl9pPr>
          </a:lstStyle>
          <a:p>
            <a:pPr>
              <a:defRPr sz="1275" b="0">
                <a:solidFill>
                  <a:srgbClr val="91A9B9"/>
                </a:solidFill>
              </a:defRPr>
            </a:pPr>
            <a:r>
              <a:rPr sz="1275" b="0">
                <a:solidFill>
                  <a:srgbClr val="91A9B9"/>
                </a:solidFill>
              </a:rPr>
              <a:t>01</a:t>
            </a:r>
          </a:p>
        </p:txBody>
      </p:sp>
      <p:sp>
        <p:nvSpPr>
          <p:cNvPr id="4" name="Event">
            <a:extLst>
              <a:ext uri="{FF2B5EF4-FFF2-40B4-BE49-F238E27FC236}">
                <a16:creationId xmlns:a16="http://schemas.microsoft.com/office/drawing/2014/main" id="{08CFB704-C66D-4E85-A2E7-D42AACA77C9E}"/>
              </a:ext>
            </a:extLst>
          </p:cNvPr>
          <p:cNvSpPr>
            <a:spLocks noGrp="1"/>
          </p:cNvSpPr>
          <p:nvPr/>
        </p:nvSpPr>
        <p:spPr>
          <a:xfrm>
            <a:off x="609600" y="3609975"/>
            <a:ext cx="6000750" cy="381000"/>
          </a:xfrm>
          <a:prstGeom prst="rect">
            <a:avLst/>
          </a:prstGeom>
          <a:noFill/>
          <a:ln w="0">
            <a:noFill/>
          </a:ln>
        </p:spPr>
        <p:txBody>
          <a:bodyPr lIns="0" tIns="0" rIns="0" bIns="0"/>
          <a:lstStyle>
            <a:defPPr>
              <a:defRPr sz="1650" b="1">
                <a:solidFill>
                  <a:srgbClr val="EB772D"/>
                </a:solidFill>
              </a:defRPr>
            </a:defPPr>
            <a:lvl1pPr>
              <a:defRPr sz="1650" b="1">
                <a:solidFill>
                  <a:srgbClr val="EB772D"/>
                </a:solidFill>
              </a:defRPr>
            </a:lvl1pPr>
            <a:lvl2pPr>
              <a:defRPr sz="1650" b="1">
                <a:solidFill>
                  <a:srgbClr val="EB772D"/>
                </a:solidFill>
              </a:defRPr>
            </a:lvl2pPr>
            <a:lvl3pPr>
              <a:defRPr sz="1650" b="1">
                <a:solidFill>
                  <a:srgbClr val="EB772D"/>
                </a:solidFill>
              </a:defRPr>
            </a:lvl3pPr>
            <a:lvl4pPr>
              <a:defRPr sz="1650" b="1">
                <a:solidFill>
                  <a:srgbClr val="EB772D"/>
                </a:solidFill>
              </a:defRPr>
            </a:lvl4pPr>
            <a:lvl5pPr>
              <a:defRPr sz="1650" b="1">
                <a:solidFill>
                  <a:srgbClr val="EB772D"/>
                </a:solidFill>
              </a:defRPr>
            </a:lvl5pPr>
            <a:lvl6pPr>
              <a:defRPr sz="1650" b="1">
                <a:solidFill>
                  <a:srgbClr val="EB772D"/>
                </a:solidFill>
              </a:defRPr>
            </a:lvl6pPr>
            <a:lvl7pPr>
              <a:defRPr sz="1650" b="1">
                <a:solidFill>
                  <a:srgbClr val="EB772D"/>
                </a:solidFill>
              </a:defRPr>
            </a:lvl7pPr>
            <a:lvl8pPr>
              <a:defRPr sz="1650" b="1">
                <a:solidFill>
                  <a:srgbClr val="EB772D"/>
                </a:solidFill>
              </a:defRPr>
            </a:lvl8pPr>
            <a:lvl9pPr>
              <a:defRPr sz="1650" b="1">
                <a:solidFill>
                  <a:srgbClr val="EB772D"/>
                </a:solidFill>
              </a:defRPr>
            </a:lvl9pPr>
          </a:lstStyle>
          <a:p>
            <a:pPr>
              <a:defRPr sz="1650" b="1">
                <a:solidFill>
                  <a:srgbClr val="EB772D"/>
                </a:solidFill>
              </a:defRPr>
            </a:pPr>
            <a:r>
              <a:rPr sz="1650" b="1">
                <a:solidFill>
                  <a:srgbClr val="EB772D"/>
                </a:solidFill>
              </a:rPr>
              <a:t>NCSEA HACKATHON</a:t>
            </a:r>
          </a:p>
        </p:txBody>
      </p:sp>
      <p:sp>
        <p:nvSpPr>
          <p:cNvPr id="5" name="Full project name">
            <a:extLst>
              <a:ext uri="{FF2B5EF4-FFF2-40B4-BE49-F238E27FC236}">
                <a16:creationId xmlns:a16="http://schemas.microsoft.com/office/drawing/2014/main" id="{21A89317-13F4-43B6-8EEC-EA2B280ED548}"/>
              </a:ext>
            </a:extLst>
          </p:cNvPr>
          <p:cNvSpPr>
            <a:spLocks noGrp="1"/>
          </p:cNvSpPr>
          <p:nvPr/>
        </p:nvSpPr>
        <p:spPr>
          <a:xfrm>
            <a:off x="685800" y="3666983"/>
            <a:ext cx="6572250" cy="1190625"/>
          </a:xfrm>
          <a:prstGeom prst="rect">
            <a:avLst/>
          </a:prstGeom>
          <a:noFill/>
          <a:ln w="0">
            <a:noFill/>
          </a:ln>
        </p:spPr>
        <p:txBody>
          <a:bodyPr lIns="0" tIns="0" rIns="0" bIns="0"/>
          <a:lstStyle>
            <a:defPPr>
              <a:defRPr sz="3225" b="0">
                <a:solidFill>
                  <a:srgbClr val="FFFFFF"/>
                </a:solidFill>
              </a:defRPr>
            </a:defPPr>
            <a:lvl1pPr>
              <a:defRPr sz="3225" b="0">
                <a:solidFill>
                  <a:srgbClr val="FFFFFF"/>
                </a:solidFill>
              </a:defRPr>
            </a:lvl1pPr>
            <a:lvl2pPr>
              <a:defRPr sz="3225" b="0">
                <a:solidFill>
                  <a:srgbClr val="FFFFFF"/>
                </a:solidFill>
              </a:defRPr>
            </a:lvl2pPr>
            <a:lvl3pPr>
              <a:defRPr sz="3225" b="0">
                <a:solidFill>
                  <a:srgbClr val="FFFFFF"/>
                </a:solidFill>
              </a:defRPr>
            </a:lvl3pPr>
            <a:lvl4pPr>
              <a:defRPr sz="3225" b="0">
                <a:solidFill>
                  <a:srgbClr val="FFFFFF"/>
                </a:solidFill>
              </a:defRPr>
            </a:lvl4pPr>
            <a:lvl5pPr>
              <a:defRPr sz="3225" b="0">
                <a:solidFill>
                  <a:srgbClr val="FFFFFF"/>
                </a:solidFill>
              </a:defRPr>
            </a:lvl5pPr>
            <a:lvl6pPr>
              <a:defRPr sz="3225" b="0">
                <a:solidFill>
                  <a:srgbClr val="FFFFFF"/>
                </a:solidFill>
              </a:defRPr>
            </a:lvl6pPr>
            <a:lvl7pPr>
              <a:defRPr sz="3225" b="0">
                <a:solidFill>
                  <a:srgbClr val="FFFFFF"/>
                </a:solidFill>
              </a:defRPr>
            </a:lvl7pPr>
            <a:lvl8pPr>
              <a:defRPr sz="3225" b="0">
                <a:solidFill>
                  <a:srgbClr val="FFFFFF"/>
                </a:solidFill>
              </a:defRPr>
            </a:lvl8pPr>
            <a:lvl9pPr>
              <a:defRPr sz="3225" b="0">
                <a:solidFill>
                  <a:srgbClr val="FFFFFF"/>
                </a:solidFill>
              </a:defRPr>
            </a:lvl9pPr>
          </a:lstStyle>
          <a:p>
            <a:pPr>
              <a:defRPr sz="3225" b="0">
                <a:solidFill>
                  <a:srgbClr val="FFFFFF"/>
                </a:solidFill>
              </a:defRPr>
            </a:pPr>
            <a:endParaRPr lang="en-US" sz="3200" b="0">
              <a:solidFill>
                <a:srgbClr val="FFFFFF"/>
              </a:solidFill>
            </a:endParaRPr>
          </a:p>
        </p:txBody>
      </p:sp>
      <p:sp>
        <p:nvSpPr>
          <p:cNvPr id="6" name="Date">
            <a:extLst>
              <a:ext uri="{FF2B5EF4-FFF2-40B4-BE49-F238E27FC236}">
                <a16:creationId xmlns:a16="http://schemas.microsoft.com/office/drawing/2014/main" id="{7ADDC0A8-6F21-411B-A6B3-2C9914A3D47E}"/>
              </a:ext>
            </a:extLst>
          </p:cNvPr>
          <p:cNvSpPr>
            <a:spLocks noGrp="1"/>
          </p:cNvSpPr>
          <p:nvPr/>
        </p:nvSpPr>
        <p:spPr>
          <a:xfrm>
            <a:off x="685800" y="5886450"/>
            <a:ext cx="6191250" cy="323850"/>
          </a:xfrm>
          <a:prstGeom prst="rect">
            <a:avLst/>
          </a:prstGeom>
          <a:noFill/>
          <a:ln w="0">
            <a:noFill/>
          </a:ln>
        </p:spPr>
        <p:txBody>
          <a:bodyPr lIns="0" tIns="0" rIns="0" bIns="0"/>
          <a:lstStyle>
            <a:defPPr>
              <a:defRPr sz="1650" b="0">
                <a:solidFill>
                  <a:srgbClr val="A9BBC7"/>
                </a:solidFill>
              </a:defRPr>
            </a:defPPr>
            <a:lvl1pPr>
              <a:defRPr sz="1650" b="0">
                <a:solidFill>
                  <a:srgbClr val="A9BBC7"/>
                </a:solidFill>
              </a:defRPr>
            </a:lvl1pPr>
            <a:lvl2pPr>
              <a:defRPr sz="1650" b="0">
                <a:solidFill>
                  <a:srgbClr val="A9BBC7"/>
                </a:solidFill>
              </a:defRPr>
            </a:lvl2pPr>
            <a:lvl3pPr>
              <a:defRPr sz="1650" b="0">
                <a:solidFill>
                  <a:srgbClr val="A9BBC7"/>
                </a:solidFill>
              </a:defRPr>
            </a:lvl3pPr>
            <a:lvl4pPr>
              <a:defRPr sz="1650" b="0">
                <a:solidFill>
                  <a:srgbClr val="A9BBC7"/>
                </a:solidFill>
              </a:defRPr>
            </a:lvl4pPr>
            <a:lvl5pPr>
              <a:defRPr sz="1650" b="0">
                <a:solidFill>
                  <a:srgbClr val="A9BBC7"/>
                </a:solidFill>
              </a:defRPr>
            </a:lvl5pPr>
            <a:lvl6pPr>
              <a:defRPr sz="1650" b="0">
                <a:solidFill>
                  <a:srgbClr val="A9BBC7"/>
                </a:solidFill>
              </a:defRPr>
            </a:lvl6pPr>
            <a:lvl7pPr>
              <a:defRPr sz="1650" b="0">
                <a:solidFill>
                  <a:srgbClr val="A9BBC7"/>
                </a:solidFill>
              </a:defRPr>
            </a:lvl7pPr>
            <a:lvl8pPr>
              <a:defRPr sz="1650" b="0">
                <a:solidFill>
                  <a:srgbClr val="A9BBC7"/>
                </a:solidFill>
              </a:defRPr>
            </a:lvl8pPr>
            <a:lvl9pPr>
              <a:defRPr sz="1650" b="0">
                <a:solidFill>
                  <a:srgbClr val="A9BBC7"/>
                </a:solidFill>
              </a:defRPr>
            </a:lvl9pPr>
          </a:lstStyle>
          <a:p>
            <a:pPr>
              <a:defRPr sz="1650" b="0">
                <a:solidFill>
                  <a:srgbClr val="A9BBC7"/>
                </a:solidFill>
              </a:defRPr>
            </a:pPr>
            <a:r>
              <a:rPr lang="en-US" sz="1650" b="0">
                <a:solidFill>
                  <a:srgbClr val="A9BBC7"/>
                </a:solidFill>
              </a:rPr>
              <a:t>27 October, 2026</a:t>
            </a:r>
            <a:endParaRPr sz="1650" b="0">
              <a:solidFill>
                <a:srgbClr val="A9BBC7"/>
              </a:solidFill>
            </a:endParaRPr>
          </a:p>
        </p:txBody>
      </p:sp>
      <p:pic>
        <p:nvPicPr>
          <p:cNvPr id="7" name="Picture 6">
            <a:extLst>
              <a:ext uri="{FF2B5EF4-FFF2-40B4-BE49-F238E27FC236}">
                <a16:creationId xmlns:a16="http://schemas.microsoft.com/office/drawing/2014/main" id="{40BE03FB-0433-4AFE-B727-85E88C7A131A}"/>
              </a:ext>
            </a:extLst>
          </p:cNvPr>
          <p:cNvPicPr>
            <a:picLocks noChangeAspect="1"/>
          </p:cNvPicPr>
          <p:nvPr/>
        </p:nvPicPr>
        <p:blipFill>
          <a:blip r:embed="rId3"/>
          <a:stretch/>
        </p:blipFill>
        <p:spPr>
          <a:xfrm>
            <a:off x="7875688" y="514755"/>
            <a:ext cx="3722181" cy="5534634"/>
          </a:xfrm>
          <a:prstGeom prst="rect">
            <a:avLst/>
          </a:prstGeom>
        </p:spPr>
      </p:pic>
      <p:pic>
        <p:nvPicPr>
          <p:cNvPr id="8" name="Picture 7" descr="A close up of a logo&#10;&#10;AI-generated content may be incorrect.">
            <a:extLst>
              <a:ext uri="{FF2B5EF4-FFF2-40B4-BE49-F238E27FC236}">
                <a16:creationId xmlns:a16="http://schemas.microsoft.com/office/drawing/2014/main" id="{95B8D5F3-7228-860F-A790-B40889A876B2}"/>
              </a:ext>
            </a:extLst>
          </p:cNvPr>
          <p:cNvPicPr>
            <a:picLocks noChangeAspect="1"/>
          </p:cNvPicPr>
          <p:nvPr/>
        </p:nvPicPr>
        <p:blipFill>
          <a:blip r:embed="rId4"/>
          <a:srcRect l="3327" r="7005"/>
          <a:stretch>
            <a:fillRect/>
          </a:stretch>
        </p:blipFill>
        <p:spPr>
          <a:xfrm>
            <a:off x="491318" y="1175256"/>
            <a:ext cx="6687403" cy="2166024"/>
          </a:xfrm>
          <a:prstGeom prst="rect">
            <a:avLst/>
          </a:prstGeom>
        </p:spPr>
      </p:pic>
    </p:spTree>
    <p:extLst>
      <p:ext uri="{BB962C8B-B14F-4D97-AF65-F5344CB8AC3E}">
        <p14:creationId xmlns:p14="http://schemas.microsoft.com/office/powerpoint/2010/main" val="6309010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49C0DA2-AE99-43D8-8B0A-DEF56BB70AB3}"/>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sz="3600" b="1">
                <a:solidFill>
                  <a:srgbClr val="142B39"/>
                </a:solidFill>
              </a:rPr>
              <a:t>The SWOOP </a:t>
            </a:r>
            <a:r>
              <a:rPr lang="en-US" sz="3600" b="1">
                <a:solidFill>
                  <a:srgbClr val="142B39"/>
                </a:solidFill>
              </a:rPr>
              <a:t>T</a:t>
            </a:r>
            <a:r>
              <a:rPr sz="3600" b="1">
                <a:solidFill>
                  <a:srgbClr val="142B39"/>
                </a:solidFill>
              </a:rPr>
              <a:t>eam</a:t>
            </a:r>
          </a:p>
        </p:txBody>
      </p:sp>
      <p:sp>
        <p:nvSpPr>
          <p:cNvPr id="3" name="Page">
            <a:extLst>
              <a:ext uri="{FF2B5EF4-FFF2-40B4-BE49-F238E27FC236}">
                <a16:creationId xmlns:a16="http://schemas.microsoft.com/office/drawing/2014/main" id="{64710F7E-0E29-42E8-9DFC-66F361764BB7}"/>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sz="1275" b="0">
                <a:solidFill>
                  <a:srgbClr val="687782"/>
                </a:solidFill>
              </a:rPr>
              <a:t>02</a:t>
            </a:r>
          </a:p>
        </p:txBody>
      </p:sp>
      <p:sp>
        <p:nvSpPr>
          <p:cNvPr id="5" name="TextBox 4"/>
          <p:cNvSpPr txBox="1"/>
          <p:nvPr/>
        </p:nvSpPr>
        <p:spPr>
          <a:xfrm>
            <a:off x="548640" y="2185416"/>
            <a:ext cx="3145536" cy="310896"/>
          </a:xfrm>
          <a:prstGeom prst="rect">
            <a:avLst/>
          </a:prstGeom>
          <a:noFill/>
        </p:spPr>
        <p:txBody>
          <a:bodyPr wrap="none" anchor="ctr">
            <a:spAutoFit/>
          </a:bodyPr>
          <a:lstStyle/>
          <a:p>
            <a:pPr algn="ctr"/>
            <a:r>
              <a:rPr sz="1350" b="1">
                <a:solidFill>
                  <a:srgbClr val="16303F"/>
                </a:solidFill>
                <a:latin typeface="Aptos Display"/>
              </a:rPr>
              <a:t>Srikrishnan Madhavan</a:t>
            </a:r>
          </a:p>
        </p:txBody>
      </p:sp>
      <p:pic>
        <p:nvPicPr>
          <p:cNvPr id="6" name="Picture 5" descr="Patrick_Nieman.png"/>
          <p:cNvPicPr>
            <a:picLocks noChangeAspect="1"/>
          </p:cNvPicPr>
          <p:nvPr/>
        </p:nvPicPr>
        <p:blipFill>
          <a:blip r:embed="rId3"/>
          <a:stretch>
            <a:fillRect/>
          </a:stretch>
        </p:blipFill>
        <p:spPr>
          <a:xfrm>
            <a:off x="5239512" y="1234440"/>
            <a:ext cx="859536" cy="859536"/>
          </a:xfrm>
          <a:prstGeom prst="rect">
            <a:avLst/>
          </a:prstGeom>
        </p:spPr>
      </p:pic>
      <p:sp>
        <p:nvSpPr>
          <p:cNvPr id="7" name="TextBox 6"/>
          <p:cNvSpPr txBox="1"/>
          <p:nvPr/>
        </p:nvSpPr>
        <p:spPr>
          <a:xfrm>
            <a:off x="4096512" y="2185416"/>
            <a:ext cx="3145536" cy="310896"/>
          </a:xfrm>
          <a:prstGeom prst="rect">
            <a:avLst/>
          </a:prstGeom>
          <a:noFill/>
        </p:spPr>
        <p:txBody>
          <a:bodyPr wrap="none" anchor="ctr">
            <a:spAutoFit/>
          </a:bodyPr>
          <a:lstStyle/>
          <a:p>
            <a:pPr algn="ctr"/>
            <a:r>
              <a:rPr sz="1350" b="1">
                <a:solidFill>
                  <a:srgbClr val="16303F"/>
                </a:solidFill>
                <a:latin typeface="Aptos Display"/>
              </a:rPr>
              <a:t>Patrick Nieman</a:t>
            </a:r>
          </a:p>
        </p:txBody>
      </p:sp>
      <p:pic>
        <p:nvPicPr>
          <p:cNvPr id="8" name="Picture 7" descr="Frank_Fang.png"/>
          <p:cNvPicPr>
            <a:picLocks noChangeAspect="1"/>
          </p:cNvPicPr>
          <p:nvPr/>
        </p:nvPicPr>
        <p:blipFill>
          <a:blip r:embed="rId4"/>
          <a:stretch>
            <a:fillRect/>
          </a:stretch>
        </p:blipFill>
        <p:spPr>
          <a:xfrm>
            <a:off x="8787384" y="1234440"/>
            <a:ext cx="859536" cy="859536"/>
          </a:xfrm>
          <a:prstGeom prst="rect">
            <a:avLst/>
          </a:prstGeom>
        </p:spPr>
      </p:pic>
      <p:sp>
        <p:nvSpPr>
          <p:cNvPr id="9" name="TextBox 8"/>
          <p:cNvSpPr txBox="1"/>
          <p:nvPr/>
        </p:nvSpPr>
        <p:spPr>
          <a:xfrm>
            <a:off x="7644383" y="2185416"/>
            <a:ext cx="3145536" cy="310896"/>
          </a:xfrm>
          <a:prstGeom prst="rect">
            <a:avLst/>
          </a:prstGeom>
          <a:noFill/>
        </p:spPr>
        <p:txBody>
          <a:bodyPr wrap="none" anchor="ctr">
            <a:spAutoFit/>
          </a:bodyPr>
          <a:lstStyle/>
          <a:p>
            <a:pPr algn="ctr"/>
            <a:r>
              <a:rPr sz="1350" b="1">
                <a:solidFill>
                  <a:srgbClr val="16303F"/>
                </a:solidFill>
                <a:latin typeface="Aptos Display"/>
              </a:rPr>
              <a:t>Frank Fang</a:t>
            </a:r>
          </a:p>
        </p:txBody>
      </p:sp>
      <p:pic>
        <p:nvPicPr>
          <p:cNvPr id="10" name="Picture 9" descr="Wyeth_Binder.png"/>
          <p:cNvPicPr>
            <a:picLocks noChangeAspect="1"/>
          </p:cNvPicPr>
          <p:nvPr/>
        </p:nvPicPr>
        <p:blipFill>
          <a:blip r:embed="rId5"/>
          <a:stretch>
            <a:fillRect/>
          </a:stretch>
        </p:blipFill>
        <p:spPr>
          <a:xfrm>
            <a:off x="1691640" y="3063240"/>
            <a:ext cx="859536" cy="859536"/>
          </a:xfrm>
          <a:prstGeom prst="rect">
            <a:avLst/>
          </a:prstGeom>
        </p:spPr>
      </p:pic>
      <p:sp>
        <p:nvSpPr>
          <p:cNvPr id="11" name="TextBox 10"/>
          <p:cNvSpPr txBox="1"/>
          <p:nvPr/>
        </p:nvSpPr>
        <p:spPr>
          <a:xfrm>
            <a:off x="548640" y="4014216"/>
            <a:ext cx="3145536" cy="310896"/>
          </a:xfrm>
          <a:prstGeom prst="rect">
            <a:avLst/>
          </a:prstGeom>
          <a:noFill/>
        </p:spPr>
        <p:txBody>
          <a:bodyPr wrap="none" anchor="ctr">
            <a:spAutoFit/>
          </a:bodyPr>
          <a:lstStyle/>
          <a:p>
            <a:pPr algn="ctr"/>
            <a:r>
              <a:rPr sz="1350" b="1">
                <a:solidFill>
                  <a:srgbClr val="16303F"/>
                </a:solidFill>
                <a:latin typeface="Aptos Display"/>
              </a:rPr>
              <a:t>Wyeth Binder</a:t>
            </a:r>
          </a:p>
        </p:txBody>
      </p:sp>
      <p:pic>
        <p:nvPicPr>
          <p:cNvPr id="12" name="Picture 11" descr="Atishay_Lahri.png"/>
          <p:cNvPicPr>
            <a:picLocks noChangeAspect="1"/>
          </p:cNvPicPr>
          <p:nvPr/>
        </p:nvPicPr>
        <p:blipFill>
          <a:blip r:embed="rId6"/>
          <a:stretch>
            <a:fillRect/>
          </a:stretch>
        </p:blipFill>
        <p:spPr>
          <a:xfrm>
            <a:off x="5239512" y="3063240"/>
            <a:ext cx="859536" cy="859536"/>
          </a:xfrm>
          <a:prstGeom prst="rect">
            <a:avLst/>
          </a:prstGeom>
        </p:spPr>
      </p:pic>
      <p:sp>
        <p:nvSpPr>
          <p:cNvPr id="13" name="TextBox 12"/>
          <p:cNvSpPr txBox="1"/>
          <p:nvPr/>
        </p:nvSpPr>
        <p:spPr>
          <a:xfrm>
            <a:off x="4096512" y="4014216"/>
            <a:ext cx="3145536" cy="310896"/>
          </a:xfrm>
          <a:prstGeom prst="rect">
            <a:avLst/>
          </a:prstGeom>
          <a:noFill/>
        </p:spPr>
        <p:txBody>
          <a:bodyPr wrap="none" anchor="ctr">
            <a:spAutoFit/>
          </a:bodyPr>
          <a:lstStyle/>
          <a:p>
            <a:pPr algn="ctr"/>
            <a:r>
              <a:rPr sz="1350" b="1">
                <a:solidFill>
                  <a:srgbClr val="16303F"/>
                </a:solidFill>
                <a:latin typeface="Aptos Display"/>
              </a:rPr>
              <a:t>Atishay Lahri</a:t>
            </a:r>
          </a:p>
        </p:txBody>
      </p:sp>
      <p:pic>
        <p:nvPicPr>
          <p:cNvPr id="14" name="Picture 13" descr="Jeffery_Lew.png"/>
          <p:cNvPicPr>
            <a:picLocks noChangeAspect="1"/>
          </p:cNvPicPr>
          <p:nvPr/>
        </p:nvPicPr>
        <p:blipFill>
          <a:blip r:embed="rId7"/>
          <a:stretch>
            <a:fillRect/>
          </a:stretch>
        </p:blipFill>
        <p:spPr>
          <a:xfrm>
            <a:off x="8787384" y="3063240"/>
            <a:ext cx="859536" cy="859536"/>
          </a:xfrm>
          <a:prstGeom prst="rect">
            <a:avLst/>
          </a:prstGeom>
        </p:spPr>
      </p:pic>
      <p:sp>
        <p:nvSpPr>
          <p:cNvPr id="15" name="TextBox 14"/>
          <p:cNvSpPr txBox="1"/>
          <p:nvPr/>
        </p:nvSpPr>
        <p:spPr>
          <a:xfrm>
            <a:off x="7644383" y="4014216"/>
            <a:ext cx="3145536" cy="310896"/>
          </a:xfrm>
          <a:prstGeom prst="rect">
            <a:avLst/>
          </a:prstGeom>
          <a:noFill/>
        </p:spPr>
        <p:txBody>
          <a:bodyPr wrap="none" anchor="ctr">
            <a:spAutoFit/>
          </a:bodyPr>
          <a:lstStyle/>
          <a:p>
            <a:pPr algn="ctr"/>
            <a:r>
              <a:rPr sz="1350" b="1">
                <a:solidFill>
                  <a:srgbClr val="16303F"/>
                </a:solidFill>
                <a:latin typeface="Aptos Display"/>
              </a:rPr>
              <a:t>Jeffery Lew</a:t>
            </a:r>
          </a:p>
        </p:txBody>
      </p:sp>
      <p:sp>
        <p:nvSpPr>
          <p:cNvPr id="16" name="TextBox 15"/>
          <p:cNvSpPr txBox="1"/>
          <p:nvPr/>
        </p:nvSpPr>
        <p:spPr>
          <a:xfrm>
            <a:off x="548640" y="5843016"/>
            <a:ext cx="3145536" cy="310896"/>
          </a:xfrm>
          <a:prstGeom prst="rect">
            <a:avLst/>
          </a:prstGeom>
          <a:noFill/>
        </p:spPr>
        <p:txBody>
          <a:bodyPr wrap="none" anchor="ctr">
            <a:spAutoFit/>
          </a:bodyPr>
          <a:lstStyle/>
          <a:p>
            <a:pPr algn="ctr"/>
            <a:r>
              <a:rPr sz="1350" b="1">
                <a:solidFill>
                  <a:srgbClr val="16303F"/>
                </a:solidFill>
                <a:latin typeface="Aptos Display"/>
              </a:rPr>
              <a:t>Jose Sanchez</a:t>
            </a:r>
          </a:p>
        </p:txBody>
      </p:sp>
      <p:pic>
        <p:nvPicPr>
          <p:cNvPr id="17" name="Picture 16" descr="Kelsey_Taylor.png"/>
          <p:cNvPicPr>
            <a:picLocks noChangeAspect="1"/>
          </p:cNvPicPr>
          <p:nvPr/>
        </p:nvPicPr>
        <p:blipFill>
          <a:blip r:embed="rId8"/>
          <a:stretch>
            <a:fillRect/>
          </a:stretch>
        </p:blipFill>
        <p:spPr>
          <a:xfrm>
            <a:off x="5239512" y="4892040"/>
            <a:ext cx="859536" cy="859536"/>
          </a:xfrm>
          <a:prstGeom prst="rect">
            <a:avLst/>
          </a:prstGeom>
        </p:spPr>
      </p:pic>
      <p:sp>
        <p:nvSpPr>
          <p:cNvPr id="18" name="TextBox 17"/>
          <p:cNvSpPr txBox="1"/>
          <p:nvPr/>
        </p:nvSpPr>
        <p:spPr>
          <a:xfrm>
            <a:off x="4096512" y="5843016"/>
            <a:ext cx="3145536" cy="310896"/>
          </a:xfrm>
          <a:prstGeom prst="rect">
            <a:avLst/>
          </a:prstGeom>
          <a:noFill/>
        </p:spPr>
        <p:txBody>
          <a:bodyPr wrap="none" anchor="ctr">
            <a:spAutoFit/>
          </a:bodyPr>
          <a:lstStyle/>
          <a:p>
            <a:pPr algn="ctr"/>
            <a:r>
              <a:rPr sz="1350" b="1">
                <a:solidFill>
                  <a:srgbClr val="16303F"/>
                </a:solidFill>
                <a:latin typeface="Aptos Display"/>
              </a:rPr>
              <a:t>Kelsey Taylor</a:t>
            </a:r>
          </a:p>
        </p:txBody>
      </p:sp>
      <p:pic>
        <p:nvPicPr>
          <p:cNvPr id="19" name="Picture 18" descr="Arthur_Tsang.png"/>
          <p:cNvPicPr>
            <a:picLocks noChangeAspect="1"/>
          </p:cNvPicPr>
          <p:nvPr/>
        </p:nvPicPr>
        <p:blipFill>
          <a:blip r:embed="rId9"/>
          <a:stretch>
            <a:fillRect/>
          </a:stretch>
        </p:blipFill>
        <p:spPr>
          <a:xfrm>
            <a:off x="8787384" y="4892040"/>
            <a:ext cx="859536" cy="859536"/>
          </a:xfrm>
          <a:prstGeom prst="rect">
            <a:avLst/>
          </a:prstGeom>
        </p:spPr>
      </p:pic>
      <p:sp>
        <p:nvSpPr>
          <p:cNvPr id="20" name="TextBox 19"/>
          <p:cNvSpPr txBox="1"/>
          <p:nvPr/>
        </p:nvSpPr>
        <p:spPr>
          <a:xfrm>
            <a:off x="7644383" y="5843016"/>
            <a:ext cx="3145536" cy="310896"/>
          </a:xfrm>
          <a:prstGeom prst="rect">
            <a:avLst/>
          </a:prstGeom>
          <a:noFill/>
        </p:spPr>
        <p:txBody>
          <a:bodyPr wrap="none" anchor="ctr">
            <a:spAutoFit/>
          </a:bodyPr>
          <a:lstStyle/>
          <a:p>
            <a:pPr algn="ctr"/>
            <a:r>
              <a:rPr sz="1350" b="1">
                <a:solidFill>
                  <a:srgbClr val="16303F"/>
                </a:solidFill>
                <a:latin typeface="Aptos Display"/>
              </a:rPr>
              <a:t>Arthur Tsang</a:t>
            </a:r>
          </a:p>
        </p:txBody>
      </p:sp>
      <p:pic>
        <p:nvPicPr>
          <p:cNvPr id="22" name="Picture 21" descr="image">
            <a:extLst>
              <a:ext uri="{FF2B5EF4-FFF2-40B4-BE49-F238E27FC236}">
                <a16:creationId xmlns:a16="http://schemas.microsoft.com/office/drawing/2014/main" id="{F11A1C7D-C0F2-3260-D486-D7D01E601785}"/>
              </a:ext>
            </a:extLst>
          </p:cNvPr>
          <p:cNvPicPr>
            <a:picLocks noChangeAspect="1"/>
          </p:cNvPicPr>
          <p:nvPr/>
        </p:nvPicPr>
        <p:blipFill>
          <a:blip r:embed="rId10"/>
          <a:stretch>
            <a:fillRect/>
          </a:stretch>
        </p:blipFill>
        <p:spPr>
          <a:xfrm>
            <a:off x="1678531" y="4865612"/>
            <a:ext cx="901586" cy="896588"/>
          </a:xfrm>
          <a:prstGeom prst="ellipse">
            <a:avLst/>
          </a:prstGeom>
        </p:spPr>
      </p:pic>
      <p:pic>
        <p:nvPicPr>
          <p:cNvPr id="4" name="Picture 3">
            <a:extLst>
              <a:ext uri="{FF2B5EF4-FFF2-40B4-BE49-F238E27FC236}">
                <a16:creationId xmlns:a16="http://schemas.microsoft.com/office/drawing/2014/main" id="{2535CDE1-312C-351B-1C1A-2F74E3D75917}"/>
              </a:ext>
            </a:extLst>
          </p:cNvPr>
          <p:cNvPicPr>
            <a:picLocks noChangeAspect="1"/>
          </p:cNvPicPr>
          <p:nvPr/>
        </p:nvPicPr>
        <p:blipFill>
          <a:blip r:embed="rId11"/>
          <a:stretch>
            <a:fillRect/>
          </a:stretch>
        </p:blipFill>
        <p:spPr>
          <a:xfrm>
            <a:off x="1582420" y="1160463"/>
            <a:ext cx="1092200" cy="1001395"/>
          </a:xfrm>
          <a:prstGeom prst="ellipse">
            <a:avLst/>
          </a:prstGeom>
        </p:spPr>
      </p:pic>
    </p:spTree>
    <p:extLst>
      <p:ext uri="{BB962C8B-B14F-4D97-AF65-F5344CB8AC3E}">
        <p14:creationId xmlns:p14="http://schemas.microsoft.com/office/powerpoint/2010/main" val="137299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FFDA62A-82F7-4E39-8E7F-4A651086ABDF}"/>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a:t>Motivating</a:t>
            </a:r>
            <a:r>
              <a:rPr sz="3600" b="1">
                <a:solidFill>
                  <a:srgbClr val="142B39"/>
                </a:solidFill>
              </a:rPr>
              <a:t> Problem</a:t>
            </a:r>
          </a:p>
        </p:txBody>
      </p:sp>
      <p:sp>
        <p:nvSpPr>
          <p:cNvPr id="3" name="Page">
            <a:extLst>
              <a:ext uri="{FF2B5EF4-FFF2-40B4-BE49-F238E27FC236}">
                <a16:creationId xmlns:a16="http://schemas.microsoft.com/office/drawing/2014/main" id="{F8FCC993-37D3-4792-9C76-F8C016BBBDDC}"/>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sz="1275" b="0">
                <a:solidFill>
                  <a:srgbClr val="687782"/>
                </a:solidFill>
              </a:rPr>
              <a:t>03</a:t>
            </a:r>
          </a:p>
        </p:txBody>
      </p:sp>
      <p:sp>
        <p:nvSpPr>
          <p:cNvPr id="5" name="Context">
            <a:extLst>
              <a:ext uri="{FF2B5EF4-FFF2-40B4-BE49-F238E27FC236}">
                <a16:creationId xmlns:a16="http://schemas.microsoft.com/office/drawing/2014/main" id="{04AADFBB-99B0-43C1-BA60-389285CA50A7}"/>
              </a:ext>
            </a:extLst>
          </p:cNvPr>
          <p:cNvSpPr>
            <a:spLocks noGrp="1"/>
          </p:cNvSpPr>
          <p:nvPr/>
        </p:nvSpPr>
        <p:spPr>
          <a:xfrm>
            <a:off x="609600" y="4095750"/>
            <a:ext cx="6572250" cy="1028700"/>
          </a:xfrm>
          <a:prstGeom prst="rect">
            <a:avLst/>
          </a:prstGeom>
          <a:noFill/>
          <a:ln w="0">
            <a:noFill/>
          </a:ln>
        </p:spPr>
        <p:txBody>
          <a:bodyPr lIns="0" tIns="0" rIns="0" bIns="0"/>
          <a:lstStyle>
            <a:defPPr>
              <a:defRPr sz="2400" b="0">
                <a:solidFill>
                  <a:srgbClr val="687782"/>
                </a:solidFill>
              </a:defRPr>
            </a:defPPr>
            <a:lvl1pPr>
              <a:defRPr sz="2400" b="0">
                <a:solidFill>
                  <a:srgbClr val="687782"/>
                </a:solidFill>
              </a:defRPr>
            </a:lvl1pPr>
            <a:lvl2pPr>
              <a:defRPr sz="2400" b="0">
                <a:solidFill>
                  <a:srgbClr val="687782"/>
                </a:solidFill>
              </a:defRPr>
            </a:lvl2pPr>
            <a:lvl3pPr>
              <a:defRPr sz="2400" b="0">
                <a:solidFill>
                  <a:srgbClr val="687782"/>
                </a:solidFill>
              </a:defRPr>
            </a:lvl3pPr>
            <a:lvl4pPr>
              <a:defRPr sz="2400" b="0">
                <a:solidFill>
                  <a:srgbClr val="687782"/>
                </a:solidFill>
              </a:defRPr>
            </a:lvl4pPr>
            <a:lvl5pPr>
              <a:defRPr sz="2400" b="0">
                <a:solidFill>
                  <a:srgbClr val="687782"/>
                </a:solidFill>
              </a:defRPr>
            </a:lvl5pPr>
            <a:lvl6pPr>
              <a:defRPr sz="2400" b="0">
                <a:solidFill>
                  <a:srgbClr val="687782"/>
                </a:solidFill>
              </a:defRPr>
            </a:lvl6pPr>
            <a:lvl7pPr>
              <a:defRPr sz="2400" b="0">
                <a:solidFill>
                  <a:srgbClr val="687782"/>
                </a:solidFill>
              </a:defRPr>
            </a:lvl7pPr>
            <a:lvl8pPr>
              <a:defRPr sz="2400" b="0">
                <a:solidFill>
                  <a:srgbClr val="687782"/>
                </a:solidFill>
              </a:defRPr>
            </a:lvl8pPr>
            <a:lvl9pPr>
              <a:defRPr sz="2400" b="0">
                <a:solidFill>
                  <a:srgbClr val="687782"/>
                </a:solidFill>
              </a:defRPr>
            </a:lvl9pPr>
          </a:lstStyle>
          <a:p>
            <a:pPr>
              <a:defRPr sz="2400" b="0">
                <a:solidFill>
                  <a:srgbClr val="687782"/>
                </a:solidFill>
              </a:defRPr>
            </a:pPr>
            <a:endParaRPr lang="en-US" sz="2400" b="0">
              <a:solidFill>
                <a:srgbClr val="687782"/>
              </a:solidFill>
            </a:endParaRPr>
          </a:p>
        </p:txBody>
      </p:sp>
      <p:sp>
        <p:nvSpPr>
          <p:cNvPr id="12" name="Headline">
            <a:extLst>
              <a:ext uri="{FF2B5EF4-FFF2-40B4-BE49-F238E27FC236}">
                <a16:creationId xmlns:a16="http://schemas.microsoft.com/office/drawing/2014/main" id="{4CE47C1A-85C2-832B-26D7-636C9FE8B366}"/>
              </a:ext>
            </a:extLst>
          </p:cNvPr>
          <p:cNvSpPr>
            <a:spLocks noGrp="1"/>
          </p:cNvSpPr>
          <p:nvPr/>
        </p:nvSpPr>
        <p:spPr>
          <a:xfrm>
            <a:off x="609600" y="1257300"/>
            <a:ext cx="10477500" cy="523875"/>
          </a:xfrm>
          <a:prstGeom prst="rect">
            <a:avLst/>
          </a:prstGeom>
          <a:noFill/>
          <a:ln w="0">
            <a:noFill/>
          </a:ln>
        </p:spPr>
        <p:txBody>
          <a:bodyPr lIns="0" tIns="0" rIns="0" bIns="0"/>
          <a:lstStyle>
            <a:defPPr algn="l">
              <a:defRPr sz="2700" b="1">
                <a:solidFill>
                  <a:srgbClr val="142B39"/>
                </a:solidFill>
              </a:defRPr>
            </a:defPPr>
            <a:lvl1pPr algn="l">
              <a:defRPr sz="2700" b="1">
                <a:solidFill>
                  <a:srgbClr val="142B39"/>
                </a:solidFill>
              </a:defRPr>
            </a:lvl1pPr>
            <a:lvl2pPr algn="l">
              <a:defRPr sz="2700" b="1">
                <a:solidFill>
                  <a:srgbClr val="142B39"/>
                </a:solidFill>
              </a:defRPr>
            </a:lvl2pPr>
            <a:lvl3pPr algn="l">
              <a:defRPr sz="2700" b="1">
                <a:solidFill>
                  <a:srgbClr val="142B39"/>
                </a:solidFill>
              </a:defRPr>
            </a:lvl3pPr>
            <a:lvl4pPr algn="l">
              <a:defRPr sz="2700" b="1">
                <a:solidFill>
                  <a:srgbClr val="142B39"/>
                </a:solidFill>
              </a:defRPr>
            </a:lvl4pPr>
            <a:lvl5pPr algn="l">
              <a:defRPr sz="2700" b="1">
                <a:solidFill>
                  <a:srgbClr val="142B39"/>
                </a:solidFill>
              </a:defRPr>
            </a:lvl5pPr>
            <a:lvl6pPr algn="l">
              <a:defRPr sz="2700" b="1">
                <a:solidFill>
                  <a:srgbClr val="142B39"/>
                </a:solidFill>
              </a:defRPr>
            </a:lvl6pPr>
            <a:lvl7pPr algn="l">
              <a:defRPr sz="2700" b="1">
                <a:solidFill>
                  <a:srgbClr val="142B39"/>
                </a:solidFill>
              </a:defRPr>
            </a:lvl7pPr>
            <a:lvl8pPr algn="l">
              <a:defRPr sz="2700" b="1">
                <a:solidFill>
                  <a:srgbClr val="142B39"/>
                </a:solidFill>
              </a:defRPr>
            </a:lvl8pPr>
            <a:lvl9pPr algn="l">
              <a:defRPr sz="2700" b="1">
                <a:solidFill>
                  <a:srgbClr val="142B39"/>
                </a:solidFill>
              </a:defRPr>
            </a:lvl9pPr>
          </a:lstStyle>
          <a:p>
            <a:pPr>
              <a:defRPr sz="2700" b="1">
                <a:solidFill>
                  <a:srgbClr val="142B39"/>
                </a:solidFill>
              </a:defRPr>
            </a:pPr>
            <a:r>
              <a:rPr lang="en-US"/>
              <a:t>Tall towers w/ indeterminate system under lateral loads</a:t>
            </a:r>
          </a:p>
        </p:txBody>
      </p:sp>
      <p:sp>
        <p:nvSpPr>
          <p:cNvPr id="6" name="TextBox 5">
            <a:extLst>
              <a:ext uri="{FF2B5EF4-FFF2-40B4-BE49-F238E27FC236}">
                <a16:creationId xmlns:a16="http://schemas.microsoft.com/office/drawing/2014/main" id="{60E71288-68F1-0A2D-5138-A003FD3783DA}"/>
              </a:ext>
            </a:extLst>
          </p:cNvPr>
          <p:cNvSpPr txBox="1"/>
          <p:nvPr/>
        </p:nvSpPr>
        <p:spPr>
          <a:xfrm>
            <a:off x="609600" y="2055817"/>
            <a:ext cx="5133079" cy="489364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a:t>Current Practices:</a:t>
            </a:r>
          </a:p>
          <a:p>
            <a:endParaRPr lang="en-US" sz="2400" b="1"/>
          </a:p>
          <a:p>
            <a:pPr marL="342900" indent="-342900">
              <a:buAutoNum type="arabicPeriod"/>
            </a:pPr>
            <a:r>
              <a:rPr lang="en-US" sz="2400"/>
              <a:t>Approximate hand calcs with guess and check.</a:t>
            </a:r>
          </a:p>
          <a:p>
            <a:pPr marL="342900" indent="-342900">
              <a:buAutoNum type="arabicPeriod"/>
            </a:pPr>
            <a:endParaRPr lang="en-US" sz="2400"/>
          </a:p>
          <a:p>
            <a:pPr marL="342900" indent="-342900">
              <a:buAutoNum type="arabicPeriod"/>
            </a:pPr>
            <a:r>
              <a:rPr lang="en-US" sz="2400"/>
              <a:t>Optimization routines that can employ material optimization for a given floor plate layout.</a:t>
            </a:r>
          </a:p>
          <a:p>
            <a:pPr lvl="1"/>
            <a:endParaRPr lang="en-US" sz="2400"/>
          </a:p>
          <a:p>
            <a:pPr lvl="1"/>
            <a:endParaRPr lang="en-US" sz="2400"/>
          </a:p>
          <a:p>
            <a:endParaRPr lang="en-US" sz="2400"/>
          </a:p>
          <a:p>
            <a:pPr marL="285750" indent="-285750">
              <a:buFont typeface="Calibri"/>
              <a:buChar char="-"/>
            </a:pPr>
            <a:endParaRPr lang="en-US" sz="2400"/>
          </a:p>
          <a:p>
            <a:pPr marL="285750" indent="-285750">
              <a:buFont typeface="Calibri"/>
              <a:buChar char="-"/>
            </a:pPr>
            <a:endParaRPr lang="en-US" sz="2400"/>
          </a:p>
        </p:txBody>
      </p:sp>
      <p:sp>
        <p:nvSpPr>
          <p:cNvPr id="42" name="TextBox 41">
            <a:extLst>
              <a:ext uri="{FF2B5EF4-FFF2-40B4-BE49-F238E27FC236}">
                <a16:creationId xmlns:a16="http://schemas.microsoft.com/office/drawing/2014/main" id="{AA6619A2-701D-6A49-7605-38698229C2B2}"/>
              </a:ext>
            </a:extLst>
          </p:cNvPr>
          <p:cNvSpPr txBox="1"/>
          <p:nvPr/>
        </p:nvSpPr>
        <p:spPr>
          <a:xfrm>
            <a:off x="6995986" y="1972101"/>
            <a:ext cx="5133079" cy="438581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endParaRPr lang="en-US" sz="2400" b="1"/>
          </a:p>
          <a:p>
            <a:endParaRPr lang="en-US" sz="2400" b="1"/>
          </a:p>
          <a:p>
            <a:pPr>
              <a:spcBef>
                <a:spcPts val="600"/>
              </a:spcBef>
            </a:pPr>
            <a:r>
              <a:rPr lang="en-US" sz="2400"/>
              <a:t>Time-intensive and imprecise.</a:t>
            </a:r>
          </a:p>
          <a:p>
            <a:pPr>
              <a:spcBef>
                <a:spcPts val="600"/>
              </a:spcBef>
            </a:pPr>
            <a:r>
              <a:rPr lang="en-US" sz="2400"/>
              <a:t>Inability to consider topological optimization due to multitude of variables.</a:t>
            </a:r>
          </a:p>
          <a:p>
            <a:pPr>
              <a:spcBef>
                <a:spcPts val="600"/>
              </a:spcBef>
            </a:pPr>
            <a:r>
              <a:rPr lang="en-US" sz="2400"/>
              <a:t>Computationally challenging to develop tools that employ multivariable optimization.</a:t>
            </a:r>
          </a:p>
          <a:p>
            <a:pPr lvl="1"/>
            <a:endParaRPr lang="en-US" sz="2400"/>
          </a:p>
          <a:p>
            <a:pPr lvl="1"/>
            <a:endParaRPr lang="en-US" sz="2400"/>
          </a:p>
        </p:txBody>
      </p:sp>
      <p:sp>
        <p:nvSpPr>
          <p:cNvPr id="45" name="Arrow: Right 44">
            <a:extLst>
              <a:ext uri="{FF2B5EF4-FFF2-40B4-BE49-F238E27FC236}">
                <a16:creationId xmlns:a16="http://schemas.microsoft.com/office/drawing/2014/main" id="{093A88C5-A79A-5524-1DA7-F81FB8F068ED}"/>
              </a:ext>
            </a:extLst>
          </p:cNvPr>
          <p:cNvSpPr/>
          <p:nvPr/>
        </p:nvSpPr>
        <p:spPr>
          <a:xfrm flipV="1">
            <a:off x="5903697" y="3065034"/>
            <a:ext cx="545626" cy="47942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710281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a:extLst>
            <a:ext uri="{FF2B5EF4-FFF2-40B4-BE49-F238E27FC236}">
              <a16:creationId xmlns:a16="http://schemas.microsoft.com/office/drawing/2014/main" id="{C3FE4E72-2CA8-BA12-A1B9-DD63FEDD14EA}"/>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52A2B79E-BBDC-60FA-1301-AC7054D55BC1}"/>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sz="3600" b="1">
                <a:solidFill>
                  <a:srgbClr val="142B39"/>
                </a:solidFill>
              </a:rPr>
              <a:t>Motivation / Problem</a:t>
            </a:r>
          </a:p>
        </p:txBody>
      </p:sp>
      <p:sp>
        <p:nvSpPr>
          <p:cNvPr id="3" name="Page">
            <a:extLst>
              <a:ext uri="{FF2B5EF4-FFF2-40B4-BE49-F238E27FC236}">
                <a16:creationId xmlns:a16="http://schemas.microsoft.com/office/drawing/2014/main" id="{ACBD56F4-B71E-0DA3-3BB1-9E9C80D41AF4}"/>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lang="en-US" sz="1275" b="0">
                <a:solidFill>
                  <a:srgbClr val="687782"/>
                </a:solidFill>
              </a:rPr>
              <a:t>04</a:t>
            </a:r>
            <a:endParaRPr sz="1275" b="0">
              <a:solidFill>
                <a:srgbClr val="687782"/>
              </a:solidFill>
            </a:endParaRPr>
          </a:p>
        </p:txBody>
      </p:sp>
      <p:sp>
        <p:nvSpPr>
          <p:cNvPr id="5" name="Context">
            <a:extLst>
              <a:ext uri="{FF2B5EF4-FFF2-40B4-BE49-F238E27FC236}">
                <a16:creationId xmlns:a16="http://schemas.microsoft.com/office/drawing/2014/main" id="{8B1D27DB-7A33-5D0B-025E-3BA4218D87D5}"/>
              </a:ext>
            </a:extLst>
          </p:cNvPr>
          <p:cNvSpPr>
            <a:spLocks noGrp="1"/>
          </p:cNvSpPr>
          <p:nvPr/>
        </p:nvSpPr>
        <p:spPr>
          <a:xfrm>
            <a:off x="609600" y="4095750"/>
            <a:ext cx="6572250" cy="1028700"/>
          </a:xfrm>
          <a:prstGeom prst="rect">
            <a:avLst/>
          </a:prstGeom>
          <a:noFill/>
          <a:ln w="0">
            <a:noFill/>
          </a:ln>
        </p:spPr>
        <p:txBody>
          <a:bodyPr lIns="0" tIns="0" rIns="0" bIns="0"/>
          <a:lstStyle>
            <a:defPPr>
              <a:defRPr sz="2400" b="0">
                <a:solidFill>
                  <a:srgbClr val="687782"/>
                </a:solidFill>
              </a:defRPr>
            </a:defPPr>
            <a:lvl1pPr>
              <a:defRPr sz="2400" b="0">
                <a:solidFill>
                  <a:srgbClr val="687782"/>
                </a:solidFill>
              </a:defRPr>
            </a:lvl1pPr>
            <a:lvl2pPr>
              <a:defRPr sz="2400" b="0">
                <a:solidFill>
                  <a:srgbClr val="687782"/>
                </a:solidFill>
              </a:defRPr>
            </a:lvl2pPr>
            <a:lvl3pPr>
              <a:defRPr sz="2400" b="0">
                <a:solidFill>
                  <a:srgbClr val="687782"/>
                </a:solidFill>
              </a:defRPr>
            </a:lvl3pPr>
            <a:lvl4pPr>
              <a:defRPr sz="2400" b="0">
                <a:solidFill>
                  <a:srgbClr val="687782"/>
                </a:solidFill>
              </a:defRPr>
            </a:lvl4pPr>
            <a:lvl5pPr>
              <a:defRPr sz="2400" b="0">
                <a:solidFill>
                  <a:srgbClr val="687782"/>
                </a:solidFill>
              </a:defRPr>
            </a:lvl5pPr>
            <a:lvl6pPr>
              <a:defRPr sz="2400" b="0">
                <a:solidFill>
                  <a:srgbClr val="687782"/>
                </a:solidFill>
              </a:defRPr>
            </a:lvl6pPr>
            <a:lvl7pPr>
              <a:defRPr sz="2400" b="0">
                <a:solidFill>
                  <a:srgbClr val="687782"/>
                </a:solidFill>
              </a:defRPr>
            </a:lvl7pPr>
            <a:lvl8pPr>
              <a:defRPr sz="2400" b="0">
                <a:solidFill>
                  <a:srgbClr val="687782"/>
                </a:solidFill>
              </a:defRPr>
            </a:lvl8pPr>
            <a:lvl9pPr>
              <a:defRPr sz="2400" b="0">
                <a:solidFill>
                  <a:srgbClr val="687782"/>
                </a:solidFill>
              </a:defRPr>
            </a:lvl9pPr>
          </a:lstStyle>
          <a:p>
            <a:pPr>
              <a:defRPr sz="2400" b="0">
                <a:solidFill>
                  <a:srgbClr val="687782"/>
                </a:solidFill>
              </a:defRPr>
            </a:pPr>
            <a:endParaRPr lang="en-US" sz="2400" b="0">
              <a:solidFill>
                <a:srgbClr val="687782"/>
              </a:solidFill>
            </a:endParaRPr>
          </a:p>
        </p:txBody>
      </p:sp>
      <p:sp>
        <p:nvSpPr>
          <p:cNvPr id="8" name="Takeaway">
            <a:extLst>
              <a:ext uri="{FF2B5EF4-FFF2-40B4-BE49-F238E27FC236}">
                <a16:creationId xmlns:a16="http://schemas.microsoft.com/office/drawing/2014/main" id="{B8816C09-6C39-EA3C-F5A3-F5E15F9E9079}"/>
              </a:ext>
            </a:extLst>
          </p:cNvPr>
          <p:cNvSpPr>
            <a:spLocks noGrp="1"/>
          </p:cNvSpPr>
          <p:nvPr/>
        </p:nvSpPr>
        <p:spPr>
          <a:xfrm>
            <a:off x="609600" y="5924550"/>
            <a:ext cx="10972800" cy="409575"/>
          </a:xfrm>
          <a:prstGeom prst="rect">
            <a:avLst/>
          </a:prstGeom>
          <a:noFill/>
          <a:ln w="0">
            <a:noFill/>
          </a:ln>
        </p:spPr>
        <p:txBody>
          <a:bodyPr lIns="0" tIns="0" rIns="0" bIns="0" anchor="t"/>
          <a:lstStyle>
            <a:defPPr>
              <a:defRPr sz="1875" b="1">
                <a:solidFill>
                  <a:srgbClr val="EB772D"/>
                </a:solidFill>
              </a:defRPr>
            </a:defPPr>
            <a:lvl1pPr>
              <a:defRPr sz="1875" b="1">
                <a:solidFill>
                  <a:srgbClr val="EB772D"/>
                </a:solidFill>
              </a:defRPr>
            </a:lvl1pPr>
            <a:lvl2pPr>
              <a:defRPr sz="1875" b="1">
                <a:solidFill>
                  <a:srgbClr val="EB772D"/>
                </a:solidFill>
              </a:defRPr>
            </a:lvl2pPr>
            <a:lvl3pPr>
              <a:defRPr sz="1875" b="1">
                <a:solidFill>
                  <a:srgbClr val="EB772D"/>
                </a:solidFill>
              </a:defRPr>
            </a:lvl3pPr>
            <a:lvl4pPr>
              <a:defRPr sz="1875" b="1">
                <a:solidFill>
                  <a:srgbClr val="EB772D"/>
                </a:solidFill>
              </a:defRPr>
            </a:lvl4pPr>
            <a:lvl5pPr>
              <a:defRPr sz="1875" b="1">
                <a:solidFill>
                  <a:srgbClr val="EB772D"/>
                </a:solidFill>
              </a:defRPr>
            </a:lvl5pPr>
            <a:lvl6pPr>
              <a:defRPr sz="1875" b="1">
                <a:solidFill>
                  <a:srgbClr val="EB772D"/>
                </a:solidFill>
              </a:defRPr>
            </a:lvl6pPr>
            <a:lvl7pPr>
              <a:defRPr sz="1875" b="1">
                <a:solidFill>
                  <a:srgbClr val="EB772D"/>
                </a:solidFill>
              </a:defRPr>
            </a:lvl7pPr>
            <a:lvl8pPr>
              <a:defRPr sz="1875" b="1">
                <a:solidFill>
                  <a:srgbClr val="EB772D"/>
                </a:solidFill>
              </a:defRPr>
            </a:lvl8pPr>
            <a:lvl9pPr>
              <a:defRPr sz="1875" b="1">
                <a:solidFill>
                  <a:srgbClr val="EB772D"/>
                </a:solidFill>
              </a:defRPr>
            </a:lvl9pPr>
          </a:lstStyle>
          <a:p>
            <a:pPr>
              <a:defRPr sz="1875" b="1">
                <a:solidFill>
                  <a:srgbClr val="EB772D"/>
                </a:solidFill>
              </a:defRPr>
            </a:pPr>
            <a:r>
              <a:rPr lang="en-US" sz="2700"/>
              <a:t>A repetitive, time-intensive process</a:t>
            </a:r>
            <a:endParaRPr lang="en-US" sz="2700" b="1">
              <a:solidFill>
                <a:srgbClr val="EB772D"/>
              </a:solidFill>
            </a:endParaRPr>
          </a:p>
        </p:txBody>
      </p:sp>
      <p:sp>
        <p:nvSpPr>
          <p:cNvPr id="10" name="Title">
            <a:extLst>
              <a:ext uri="{FF2B5EF4-FFF2-40B4-BE49-F238E27FC236}">
                <a16:creationId xmlns:a16="http://schemas.microsoft.com/office/drawing/2014/main" id="{02FCF6F5-9A2E-DAD8-58FD-F06FEEC3B4F9}"/>
              </a:ext>
            </a:extLst>
          </p:cNvPr>
          <p:cNvSpPr>
            <a:spLocks noGrp="1"/>
          </p:cNvSpPr>
          <p:nvPr/>
        </p:nvSpPr>
        <p:spPr>
          <a:xfrm>
            <a:off x="609600" y="495300"/>
            <a:ext cx="10477500" cy="628650"/>
          </a:xfrm>
          <a:prstGeom prst="rect">
            <a:avLst/>
          </a:prstGeom>
          <a:noFill/>
          <a:ln w="0">
            <a:noFill/>
          </a:ln>
        </p:spPr>
        <p:txBody>
          <a:bodyPr lIns="0" tIns="0" rIns="0" bIns="0"/>
          <a:lstStyle>
            <a:defPPr algn="l">
              <a:defRPr sz="3600" b="1">
                <a:solidFill>
                  <a:srgbClr val="142B39"/>
                </a:solidFill>
              </a:defRPr>
            </a:defPPr>
            <a:lvl1pPr algn="l">
              <a:defRPr sz="3600" b="1">
                <a:solidFill>
                  <a:srgbClr val="142B39"/>
                </a:solidFill>
              </a:defRPr>
            </a:lvl1pPr>
            <a:lvl2pPr algn="l">
              <a:defRPr sz="3600" b="1">
                <a:solidFill>
                  <a:srgbClr val="142B39"/>
                </a:solidFill>
              </a:defRPr>
            </a:lvl2pPr>
            <a:lvl3pPr algn="l">
              <a:defRPr sz="3600" b="1">
                <a:solidFill>
                  <a:srgbClr val="142B39"/>
                </a:solidFill>
              </a:defRPr>
            </a:lvl3pPr>
            <a:lvl4pPr algn="l">
              <a:defRPr sz="3600" b="1">
                <a:solidFill>
                  <a:srgbClr val="142B39"/>
                </a:solidFill>
              </a:defRPr>
            </a:lvl4pPr>
            <a:lvl5pPr algn="l">
              <a:defRPr sz="3600" b="1">
                <a:solidFill>
                  <a:srgbClr val="142B39"/>
                </a:solidFill>
              </a:defRPr>
            </a:lvl5pPr>
            <a:lvl6pPr algn="l">
              <a:defRPr sz="3600" b="1">
                <a:solidFill>
                  <a:srgbClr val="142B39"/>
                </a:solidFill>
              </a:defRPr>
            </a:lvl6pPr>
            <a:lvl7pPr algn="l">
              <a:defRPr sz="3600" b="1">
                <a:solidFill>
                  <a:srgbClr val="142B39"/>
                </a:solidFill>
              </a:defRPr>
            </a:lvl7pPr>
            <a:lvl8pPr algn="l">
              <a:defRPr sz="3600" b="1">
                <a:solidFill>
                  <a:srgbClr val="142B39"/>
                </a:solidFill>
              </a:defRPr>
            </a:lvl8pPr>
            <a:lvl9pPr algn="l">
              <a:defRPr sz="3600" b="1">
                <a:solidFill>
                  <a:srgbClr val="142B39"/>
                </a:solidFill>
              </a:defRPr>
            </a:lvl9pPr>
          </a:lstStyle>
          <a:p>
            <a:pPr algn="l">
              <a:defRPr sz="3600" b="1">
                <a:solidFill>
                  <a:srgbClr val="142B39"/>
                </a:solidFill>
              </a:defRPr>
            </a:pPr>
            <a:r>
              <a:rPr sz="3600" b="1">
                <a:solidFill>
                  <a:srgbClr val="142B39"/>
                </a:solidFill>
              </a:rPr>
              <a:t>Motivation / Problem</a:t>
            </a:r>
          </a:p>
        </p:txBody>
      </p:sp>
      <p:sp>
        <p:nvSpPr>
          <p:cNvPr id="12" name="Headline">
            <a:extLst>
              <a:ext uri="{FF2B5EF4-FFF2-40B4-BE49-F238E27FC236}">
                <a16:creationId xmlns:a16="http://schemas.microsoft.com/office/drawing/2014/main" id="{4A2A0DAF-06F6-AD73-E17C-FBB430F51E85}"/>
              </a:ext>
            </a:extLst>
          </p:cNvPr>
          <p:cNvSpPr>
            <a:spLocks noGrp="1"/>
          </p:cNvSpPr>
          <p:nvPr/>
        </p:nvSpPr>
        <p:spPr>
          <a:xfrm>
            <a:off x="609600" y="1257300"/>
            <a:ext cx="10477500" cy="523875"/>
          </a:xfrm>
          <a:prstGeom prst="rect">
            <a:avLst/>
          </a:prstGeom>
          <a:noFill/>
          <a:ln w="0">
            <a:noFill/>
          </a:ln>
        </p:spPr>
        <p:txBody>
          <a:bodyPr lIns="0" tIns="0" rIns="0" bIns="0"/>
          <a:lstStyle>
            <a:defPPr algn="l">
              <a:defRPr sz="2700" b="1">
                <a:solidFill>
                  <a:srgbClr val="142B39"/>
                </a:solidFill>
              </a:defRPr>
            </a:defPPr>
            <a:lvl1pPr algn="l">
              <a:defRPr sz="2700" b="1">
                <a:solidFill>
                  <a:srgbClr val="142B39"/>
                </a:solidFill>
              </a:defRPr>
            </a:lvl1pPr>
            <a:lvl2pPr algn="l">
              <a:defRPr sz="2700" b="1">
                <a:solidFill>
                  <a:srgbClr val="142B39"/>
                </a:solidFill>
              </a:defRPr>
            </a:lvl2pPr>
            <a:lvl3pPr algn="l">
              <a:defRPr sz="2700" b="1">
                <a:solidFill>
                  <a:srgbClr val="142B39"/>
                </a:solidFill>
              </a:defRPr>
            </a:lvl3pPr>
            <a:lvl4pPr algn="l">
              <a:defRPr sz="2700" b="1">
                <a:solidFill>
                  <a:srgbClr val="142B39"/>
                </a:solidFill>
              </a:defRPr>
            </a:lvl4pPr>
            <a:lvl5pPr algn="l">
              <a:defRPr sz="2700" b="1">
                <a:solidFill>
                  <a:srgbClr val="142B39"/>
                </a:solidFill>
              </a:defRPr>
            </a:lvl5pPr>
            <a:lvl6pPr algn="l">
              <a:defRPr sz="2700" b="1">
                <a:solidFill>
                  <a:srgbClr val="142B39"/>
                </a:solidFill>
              </a:defRPr>
            </a:lvl6pPr>
            <a:lvl7pPr algn="l">
              <a:defRPr sz="2700" b="1">
                <a:solidFill>
                  <a:srgbClr val="142B39"/>
                </a:solidFill>
              </a:defRPr>
            </a:lvl7pPr>
            <a:lvl8pPr algn="l">
              <a:defRPr sz="2700" b="1">
                <a:solidFill>
                  <a:srgbClr val="142B39"/>
                </a:solidFill>
              </a:defRPr>
            </a:lvl8pPr>
            <a:lvl9pPr algn="l">
              <a:defRPr sz="2700" b="1">
                <a:solidFill>
                  <a:srgbClr val="142B39"/>
                </a:solidFill>
              </a:defRPr>
            </a:lvl9pPr>
          </a:lstStyle>
          <a:p>
            <a:pPr algn="l">
              <a:defRPr sz="2700" b="1">
                <a:solidFill>
                  <a:srgbClr val="142B39"/>
                </a:solidFill>
              </a:defRPr>
            </a:pPr>
            <a:r>
              <a:rPr sz="2700" b="1">
                <a:solidFill>
                  <a:srgbClr val="142B39"/>
                </a:solidFill>
              </a:rPr>
              <a:t>Every new layout starts the cycle again</a:t>
            </a:r>
          </a:p>
        </p:txBody>
      </p:sp>
      <p:sp>
        <p:nvSpPr>
          <p:cNvPr id="14" name="Step 1 number">
            <a:extLst>
              <a:ext uri="{FF2B5EF4-FFF2-40B4-BE49-F238E27FC236}">
                <a16:creationId xmlns:a16="http://schemas.microsoft.com/office/drawing/2014/main" id="{486137A0-CE64-DF9B-2D1B-B0B03FD0403A}"/>
              </a:ext>
            </a:extLst>
          </p:cNvPr>
          <p:cNvSpPr>
            <a:spLocks noGrp="1"/>
          </p:cNvSpPr>
          <p:nvPr/>
        </p:nvSpPr>
        <p:spPr>
          <a:xfrm>
            <a:off x="4076700" y="1962150"/>
            <a:ext cx="4048125" cy="323850"/>
          </a:xfrm>
          <a:prstGeom prst="rect">
            <a:avLst/>
          </a:prstGeom>
          <a:noFill/>
          <a:ln w="0">
            <a:noFill/>
          </a:ln>
        </p:spPr>
        <p:txBody>
          <a:bodyPr lIns="0" tIns="0" rIns="0" bIns="0"/>
          <a:lstStyle>
            <a:defPPr algn="ctr">
              <a:defRPr sz="1875" b="1">
                <a:solidFill>
                  <a:srgbClr val="EB772D"/>
                </a:solidFill>
              </a:defRPr>
            </a:defPPr>
            <a:lvl1pPr algn="ctr">
              <a:defRPr sz="1875" b="1">
                <a:solidFill>
                  <a:srgbClr val="EB772D"/>
                </a:solidFill>
              </a:defRPr>
            </a:lvl1pPr>
            <a:lvl2pPr algn="ctr">
              <a:defRPr sz="1875" b="1">
                <a:solidFill>
                  <a:srgbClr val="EB772D"/>
                </a:solidFill>
              </a:defRPr>
            </a:lvl2pPr>
            <a:lvl3pPr algn="ctr">
              <a:defRPr sz="1875" b="1">
                <a:solidFill>
                  <a:srgbClr val="EB772D"/>
                </a:solidFill>
              </a:defRPr>
            </a:lvl3pPr>
            <a:lvl4pPr algn="ctr">
              <a:defRPr sz="1875" b="1">
                <a:solidFill>
                  <a:srgbClr val="EB772D"/>
                </a:solidFill>
              </a:defRPr>
            </a:lvl4pPr>
            <a:lvl5pPr algn="ctr">
              <a:defRPr sz="1875" b="1">
                <a:solidFill>
                  <a:srgbClr val="EB772D"/>
                </a:solidFill>
              </a:defRPr>
            </a:lvl5pPr>
            <a:lvl6pPr algn="ctr">
              <a:defRPr sz="1875" b="1">
                <a:solidFill>
                  <a:srgbClr val="EB772D"/>
                </a:solidFill>
              </a:defRPr>
            </a:lvl6pPr>
            <a:lvl7pPr algn="ctr">
              <a:defRPr sz="1875" b="1">
                <a:solidFill>
                  <a:srgbClr val="EB772D"/>
                </a:solidFill>
              </a:defRPr>
            </a:lvl7pPr>
            <a:lvl8pPr algn="ctr">
              <a:defRPr sz="1875" b="1">
                <a:solidFill>
                  <a:srgbClr val="EB772D"/>
                </a:solidFill>
              </a:defRPr>
            </a:lvl8pPr>
            <a:lvl9pPr algn="ctr">
              <a:defRPr sz="1875" b="1">
                <a:solidFill>
                  <a:srgbClr val="EB772D"/>
                </a:solidFill>
              </a:defRPr>
            </a:lvl9pPr>
          </a:lstStyle>
          <a:p>
            <a:pPr algn="ctr">
              <a:defRPr sz="1875" b="1">
                <a:solidFill>
                  <a:srgbClr val="EB772D"/>
                </a:solidFill>
              </a:defRPr>
            </a:pPr>
            <a:r>
              <a:rPr sz="1875" b="1">
                <a:solidFill>
                  <a:srgbClr val="EB772D"/>
                </a:solidFill>
              </a:rPr>
              <a:t>01</a:t>
            </a:r>
          </a:p>
        </p:txBody>
      </p:sp>
      <p:sp>
        <p:nvSpPr>
          <p:cNvPr id="16" name="Step 1">
            <a:extLst>
              <a:ext uri="{FF2B5EF4-FFF2-40B4-BE49-F238E27FC236}">
                <a16:creationId xmlns:a16="http://schemas.microsoft.com/office/drawing/2014/main" id="{70435348-03BD-D91A-F62B-7B1E0993961F}"/>
              </a:ext>
            </a:extLst>
          </p:cNvPr>
          <p:cNvSpPr>
            <a:spLocks noGrp="1"/>
          </p:cNvSpPr>
          <p:nvPr/>
        </p:nvSpPr>
        <p:spPr>
          <a:xfrm>
            <a:off x="4110037" y="2314575"/>
            <a:ext cx="3971925" cy="876300"/>
          </a:xfrm>
          <a:prstGeom prst="rect">
            <a:avLst/>
          </a:prstGeom>
          <a:noFill/>
          <a:ln w="0">
            <a:noFill/>
          </a:ln>
        </p:spPr>
        <p:txBody>
          <a:bodyPr lIns="0" tIns="0" rIns="0" bIns="0"/>
          <a:lstStyle>
            <a:defPPr algn="ctr">
              <a:defRPr sz="2550" b="1">
                <a:solidFill>
                  <a:srgbClr val="142B39"/>
                </a:solidFill>
              </a:defRPr>
            </a:defPPr>
            <a:lvl1pPr algn="ctr">
              <a:defRPr sz="2550" b="1">
                <a:solidFill>
                  <a:srgbClr val="142B39"/>
                </a:solidFill>
              </a:defRPr>
            </a:lvl1pPr>
            <a:lvl2pPr algn="ctr">
              <a:defRPr sz="2550" b="1">
                <a:solidFill>
                  <a:srgbClr val="142B39"/>
                </a:solidFill>
              </a:defRPr>
            </a:lvl2pPr>
            <a:lvl3pPr algn="ctr">
              <a:defRPr sz="2550" b="1">
                <a:solidFill>
                  <a:srgbClr val="142B39"/>
                </a:solidFill>
              </a:defRPr>
            </a:lvl3pPr>
            <a:lvl4pPr algn="ctr">
              <a:defRPr sz="2550" b="1">
                <a:solidFill>
                  <a:srgbClr val="142B39"/>
                </a:solidFill>
              </a:defRPr>
            </a:lvl4pPr>
            <a:lvl5pPr algn="ctr">
              <a:defRPr sz="2550" b="1">
                <a:solidFill>
                  <a:srgbClr val="142B39"/>
                </a:solidFill>
              </a:defRPr>
            </a:lvl5pPr>
            <a:lvl6pPr algn="ctr">
              <a:defRPr sz="2550" b="1">
                <a:solidFill>
                  <a:srgbClr val="142B39"/>
                </a:solidFill>
              </a:defRPr>
            </a:lvl6pPr>
            <a:lvl7pPr algn="ctr">
              <a:defRPr sz="2550" b="1">
                <a:solidFill>
                  <a:srgbClr val="142B39"/>
                </a:solidFill>
              </a:defRPr>
            </a:lvl7pPr>
            <a:lvl8pPr algn="ctr">
              <a:defRPr sz="2550" b="1">
                <a:solidFill>
                  <a:srgbClr val="142B39"/>
                </a:solidFill>
              </a:defRPr>
            </a:lvl8pPr>
            <a:lvl9pPr algn="ctr">
              <a:defRPr sz="2550" b="1">
                <a:solidFill>
                  <a:srgbClr val="142B39"/>
                </a:solidFill>
              </a:defRPr>
            </a:lvl9pPr>
          </a:lstStyle>
          <a:p>
            <a:pPr algn="ctr">
              <a:defRPr sz="2550" b="1">
                <a:solidFill>
                  <a:srgbClr val="142B39"/>
                </a:solidFill>
              </a:defRPr>
            </a:pPr>
            <a:r>
              <a:rPr sz="2550" b="1">
                <a:solidFill>
                  <a:srgbClr val="142B39"/>
                </a:solidFill>
              </a:rPr>
              <a:t>Propose a wall</a:t>
            </a:r>
            <a:r>
              <a:rPr lang="en-US" sz="2550" b="1">
                <a:solidFill>
                  <a:srgbClr val="142B39"/>
                </a:solidFill>
              </a:rPr>
              <a:t> and </a:t>
            </a:r>
            <a:r>
              <a:rPr sz="2550" b="1">
                <a:solidFill>
                  <a:srgbClr val="142B39"/>
                </a:solidFill>
              </a:rPr>
              <a:t>outrigger</a:t>
            </a:r>
            <a:r>
              <a:rPr lang="en-US"/>
              <a:t> </a:t>
            </a:r>
            <a:r>
              <a:rPr sz="2550" b="1">
                <a:solidFill>
                  <a:srgbClr val="142B39"/>
                </a:solidFill>
              </a:rPr>
              <a:t>layout</a:t>
            </a:r>
          </a:p>
        </p:txBody>
      </p:sp>
      <p:sp>
        <p:nvSpPr>
          <p:cNvPr id="18" name="Step 2 number">
            <a:extLst>
              <a:ext uri="{FF2B5EF4-FFF2-40B4-BE49-F238E27FC236}">
                <a16:creationId xmlns:a16="http://schemas.microsoft.com/office/drawing/2014/main" id="{A0B8288A-7F7A-B3D7-5EC2-98641C476693}"/>
              </a:ext>
            </a:extLst>
          </p:cNvPr>
          <p:cNvSpPr>
            <a:spLocks noGrp="1"/>
          </p:cNvSpPr>
          <p:nvPr/>
        </p:nvSpPr>
        <p:spPr>
          <a:xfrm>
            <a:off x="7781925" y="3524250"/>
            <a:ext cx="3476625" cy="323850"/>
          </a:xfrm>
          <a:prstGeom prst="rect">
            <a:avLst/>
          </a:prstGeom>
          <a:noFill/>
          <a:ln w="0">
            <a:noFill/>
          </a:ln>
        </p:spPr>
        <p:txBody>
          <a:bodyPr lIns="0" tIns="0" rIns="0" bIns="0"/>
          <a:lstStyle>
            <a:defPPr algn="ctr">
              <a:defRPr sz="1875" b="1">
                <a:solidFill>
                  <a:srgbClr val="EB772D"/>
                </a:solidFill>
              </a:defRPr>
            </a:defPPr>
            <a:lvl1pPr algn="ctr">
              <a:defRPr sz="1875" b="1">
                <a:solidFill>
                  <a:srgbClr val="EB772D"/>
                </a:solidFill>
              </a:defRPr>
            </a:lvl1pPr>
            <a:lvl2pPr algn="ctr">
              <a:defRPr sz="1875" b="1">
                <a:solidFill>
                  <a:srgbClr val="EB772D"/>
                </a:solidFill>
              </a:defRPr>
            </a:lvl2pPr>
            <a:lvl3pPr algn="ctr">
              <a:defRPr sz="1875" b="1">
                <a:solidFill>
                  <a:srgbClr val="EB772D"/>
                </a:solidFill>
              </a:defRPr>
            </a:lvl3pPr>
            <a:lvl4pPr algn="ctr">
              <a:defRPr sz="1875" b="1">
                <a:solidFill>
                  <a:srgbClr val="EB772D"/>
                </a:solidFill>
              </a:defRPr>
            </a:lvl4pPr>
            <a:lvl5pPr algn="ctr">
              <a:defRPr sz="1875" b="1">
                <a:solidFill>
                  <a:srgbClr val="EB772D"/>
                </a:solidFill>
              </a:defRPr>
            </a:lvl5pPr>
            <a:lvl6pPr algn="ctr">
              <a:defRPr sz="1875" b="1">
                <a:solidFill>
                  <a:srgbClr val="EB772D"/>
                </a:solidFill>
              </a:defRPr>
            </a:lvl6pPr>
            <a:lvl7pPr algn="ctr">
              <a:defRPr sz="1875" b="1">
                <a:solidFill>
                  <a:srgbClr val="EB772D"/>
                </a:solidFill>
              </a:defRPr>
            </a:lvl7pPr>
            <a:lvl8pPr algn="ctr">
              <a:defRPr sz="1875" b="1">
                <a:solidFill>
                  <a:srgbClr val="EB772D"/>
                </a:solidFill>
              </a:defRPr>
            </a:lvl8pPr>
            <a:lvl9pPr algn="ctr">
              <a:defRPr sz="1875" b="1">
                <a:solidFill>
                  <a:srgbClr val="EB772D"/>
                </a:solidFill>
              </a:defRPr>
            </a:lvl9pPr>
          </a:lstStyle>
          <a:p>
            <a:pPr algn="ctr">
              <a:defRPr sz="1875" b="1">
                <a:solidFill>
                  <a:srgbClr val="EB772D"/>
                </a:solidFill>
              </a:defRPr>
            </a:pPr>
            <a:r>
              <a:rPr sz="1875" b="1">
                <a:solidFill>
                  <a:srgbClr val="EB772D"/>
                </a:solidFill>
              </a:rPr>
              <a:t>02</a:t>
            </a:r>
          </a:p>
        </p:txBody>
      </p:sp>
      <p:sp>
        <p:nvSpPr>
          <p:cNvPr id="20" name="Step 2">
            <a:extLst>
              <a:ext uri="{FF2B5EF4-FFF2-40B4-BE49-F238E27FC236}">
                <a16:creationId xmlns:a16="http://schemas.microsoft.com/office/drawing/2014/main" id="{8BDFB055-D9A6-A7C7-99E4-3586337AFAB4}"/>
              </a:ext>
            </a:extLst>
          </p:cNvPr>
          <p:cNvSpPr>
            <a:spLocks noGrp="1"/>
          </p:cNvSpPr>
          <p:nvPr/>
        </p:nvSpPr>
        <p:spPr>
          <a:xfrm>
            <a:off x="7781925" y="3905250"/>
            <a:ext cx="3476625" cy="857250"/>
          </a:xfrm>
          <a:prstGeom prst="rect">
            <a:avLst/>
          </a:prstGeom>
          <a:noFill/>
          <a:ln w="0">
            <a:noFill/>
          </a:ln>
        </p:spPr>
        <p:txBody>
          <a:bodyPr lIns="0" tIns="0" rIns="0" bIns="0" anchor="t"/>
          <a:lstStyle>
            <a:defPPr algn="ctr">
              <a:defRPr sz="2550" b="1">
                <a:solidFill>
                  <a:srgbClr val="142B39"/>
                </a:solidFill>
              </a:defRPr>
            </a:defPPr>
            <a:lvl1pPr algn="ctr">
              <a:defRPr sz="2550" b="1">
                <a:solidFill>
                  <a:srgbClr val="142B39"/>
                </a:solidFill>
              </a:defRPr>
            </a:lvl1pPr>
            <a:lvl2pPr algn="ctr">
              <a:defRPr sz="2550" b="1">
                <a:solidFill>
                  <a:srgbClr val="142B39"/>
                </a:solidFill>
              </a:defRPr>
            </a:lvl2pPr>
            <a:lvl3pPr algn="ctr">
              <a:defRPr sz="2550" b="1">
                <a:solidFill>
                  <a:srgbClr val="142B39"/>
                </a:solidFill>
              </a:defRPr>
            </a:lvl3pPr>
            <a:lvl4pPr algn="ctr">
              <a:defRPr sz="2550" b="1">
                <a:solidFill>
                  <a:srgbClr val="142B39"/>
                </a:solidFill>
              </a:defRPr>
            </a:lvl4pPr>
            <a:lvl5pPr algn="ctr">
              <a:defRPr sz="2550" b="1">
                <a:solidFill>
                  <a:srgbClr val="142B39"/>
                </a:solidFill>
              </a:defRPr>
            </a:lvl5pPr>
            <a:lvl6pPr algn="ctr">
              <a:defRPr sz="2550" b="1">
                <a:solidFill>
                  <a:srgbClr val="142B39"/>
                </a:solidFill>
              </a:defRPr>
            </a:lvl6pPr>
            <a:lvl7pPr algn="ctr">
              <a:defRPr sz="2550" b="1">
                <a:solidFill>
                  <a:srgbClr val="142B39"/>
                </a:solidFill>
              </a:defRPr>
            </a:lvl7pPr>
            <a:lvl8pPr algn="ctr">
              <a:defRPr sz="2550" b="1">
                <a:solidFill>
                  <a:srgbClr val="142B39"/>
                </a:solidFill>
              </a:defRPr>
            </a:lvl8pPr>
            <a:lvl9pPr algn="ctr">
              <a:defRPr sz="2550" b="1">
                <a:solidFill>
                  <a:srgbClr val="142B39"/>
                </a:solidFill>
              </a:defRPr>
            </a:lvl9pPr>
          </a:lstStyle>
          <a:p>
            <a:pPr algn="ctr">
              <a:defRPr sz="2550" b="1">
                <a:solidFill>
                  <a:srgbClr val="142B39"/>
                </a:solidFill>
              </a:defRPr>
            </a:pPr>
            <a:r>
              <a:rPr sz="2550" b="1">
                <a:solidFill>
                  <a:srgbClr val="142B39"/>
                </a:solidFill>
              </a:rPr>
              <a:t>Model it</a:t>
            </a:r>
          </a:p>
          <a:p>
            <a:pPr>
              <a:defRPr sz="2550" b="1">
                <a:solidFill>
                  <a:srgbClr val="142B39"/>
                </a:solidFill>
              </a:defRPr>
            </a:pPr>
            <a:r>
              <a:rPr sz="2550" b="1">
                <a:solidFill>
                  <a:srgbClr val="142B39"/>
                </a:solidFill>
              </a:rPr>
              <a:t>in </a:t>
            </a:r>
            <a:r>
              <a:rPr lang="en-US"/>
              <a:t>software like ETABS</a:t>
            </a:r>
            <a:endParaRPr lang="en-US" sz="2550" b="1">
              <a:solidFill>
                <a:srgbClr val="142B39"/>
              </a:solidFill>
            </a:endParaRPr>
          </a:p>
        </p:txBody>
      </p:sp>
      <p:sp>
        <p:nvSpPr>
          <p:cNvPr id="22" name="Step 3 number">
            <a:extLst>
              <a:ext uri="{FF2B5EF4-FFF2-40B4-BE49-F238E27FC236}">
                <a16:creationId xmlns:a16="http://schemas.microsoft.com/office/drawing/2014/main" id="{D8F4D84F-1C5E-EC5C-358E-0765D387B6A5}"/>
              </a:ext>
            </a:extLst>
          </p:cNvPr>
          <p:cNvSpPr>
            <a:spLocks noGrp="1"/>
          </p:cNvSpPr>
          <p:nvPr/>
        </p:nvSpPr>
        <p:spPr>
          <a:xfrm>
            <a:off x="942975" y="3524250"/>
            <a:ext cx="3476625" cy="323850"/>
          </a:xfrm>
          <a:prstGeom prst="rect">
            <a:avLst/>
          </a:prstGeom>
          <a:noFill/>
          <a:ln w="0">
            <a:noFill/>
          </a:ln>
        </p:spPr>
        <p:txBody>
          <a:bodyPr lIns="0" tIns="0" rIns="0" bIns="0"/>
          <a:lstStyle>
            <a:defPPr algn="ctr">
              <a:defRPr sz="1875" b="1">
                <a:solidFill>
                  <a:srgbClr val="EB772D"/>
                </a:solidFill>
              </a:defRPr>
            </a:defPPr>
            <a:lvl1pPr algn="ctr">
              <a:defRPr sz="1875" b="1">
                <a:solidFill>
                  <a:srgbClr val="EB772D"/>
                </a:solidFill>
              </a:defRPr>
            </a:lvl1pPr>
            <a:lvl2pPr algn="ctr">
              <a:defRPr sz="1875" b="1">
                <a:solidFill>
                  <a:srgbClr val="EB772D"/>
                </a:solidFill>
              </a:defRPr>
            </a:lvl2pPr>
            <a:lvl3pPr algn="ctr">
              <a:defRPr sz="1875" b="1">
                <a:solidFill>
                  <a:srgbClr val="EB772D"/>
                </a:solidFill>
              </a:defRPr>
            </a:lvl3pPr>
            <a:lvl4pPr algn="ctr">
              <a:defRPr sz="1875" b="1">
                <a:solidFill>
                  <a:srgbClr val="EB772D"/>
                </a:solidFill>
              </a:defRPr>
            </a:lvl4pPr>
            <a:lvl5pPr algn="ctr">
              <a:defRPr sz="1875" b="1">
                <a:solidFill>
                  <a:srgbClr val="EB772D"/>
                </a:solidFill>
              </a:defRPr>
            </a:lvl5pPr>
            <a:lvl6pPr algn="ctr">
              <a:defRPr sz="1875" b="1">
                <a:solidFill>
                  <a:srgbClr val="EB772D"/>
                </a:solidFill>
              </a:defRPr>
            </a:lvl6pPr>
            <a:lvl7pPr algn="ctr">
              <a:defRPr sz="1875" b="1">
                <a:solidFill>
                  <a:srgbClr val="EB772D"/>
                </a:solidFill>
              </a:defRPr>
            </a:lvl7pPr>
            <a:lvl8pPr algn="ctr">
              <a:defRPr sz="1875" b="1">
                <a:solidFill>
                  <a:srgbClr val="EB772D"/>
                </a:solidFill>
              </a:defRPr>
            </a:lvl8pPr>
            <a:lvl9pPr algn="ctr">
              <a:defRPr sz="1875" b="1">
                <a:solidFill>
                  <a:srgbClr val="EB772D"/>
                </a:solidFill>
              </a:defRPr>
            </a:lvl9pPr>
          </a:lstStyle>
          <a:p>
            <a:pPr algn="ctr">
              <a:defRPr sz="1875" b="1">
                <a:solidFill>
                  <a:srgbClr val="EB772D"/>
                </a:solidFill>
              </a:defRPr>
            </a:pPr>
            <a:r>
              <a:rPr sz="1875" b="1">
                <a:solidFill>
                  <a:srgbClr val="EB772D"/>
                </a:solidFill>
              </a:rPr>
              <a:t>03</a:t>
            </a:r>
          </a:p>
        </p:txBody>
      </p:sp>
      <p:sp>
        <p:nvSpPr>
          <p:cNvPr id="24" name="Step 3">
            <a:extLst>
              <a:ext uri="{FF2B5EF4-FFF2-40B4-BE49-F238E27FC236}">
                <a16:creationId xmlns:a16="http://schemas.microsoft.com/office/drawing/2014/main" id="{D07D8878-BB14-EF67-3EF5-D33F863F11ED}"/>
              </a:ext>
            </a:extLst>
          </p:cNvPr>
          <p:cNvSpPr>
            <a:spLocks noGrp="1"/>
          </p:cNvSpPr>
          <p:nvPr/>
        </p:nvSpPr>
        <p:spPr>
          <a:xfrm>
            <a:off x="942975" y="3905250"/>
            <a:ext cx="3476625" cy="857250"/>
          </a:xfrm>
          <a:prstGeom prst="rect">
            <a:avLst/>
          </a:prstGeom>
          <a:noFill/>
          <a:ln w="0">
            <a:noFill/>
          </a:ln>
        </p:spPr>
        <p:txBody>
          <a:bodyPr lIns="0" tIns="0" rIns="0" bIns="0" anchor="t"/>
          <a:lstStyle>
            <a:defPPr algn="ctr">
              <a:defRPr sz="2550" b="1">
                <a:solidFill>
                  <a:srgbClr val="142B39"/>
                </a:solidFill>
              </a:defRPr>
            </a:defPPr>
            <a:lvl1pPr algn="ctr">
              <a:defRPr sz="2550" b="1">
                <a:solidFill>
                  <a:srgbClr val="142B39"/>
                </a:solidFill>
              </a:defRPr>
            </a:lvl1pPr>
            <a:lvl2pPr algn="ctr">
              <a:defRPr sz="2550" b="1">
                <a:solidFill>
                  <a:srgbClr val="142B39"/>
                </a:solidFill>
              </a:defRPr>
            </a:lvl2pPr>
            <a:lvl3pPr algn="ctr">
              <a:defRPr sz="2550" b="1">
                <a:solidFill>
                  <a:srgbClr val="142B39"/>
                </a:solidFill>
              </a:defRPr>
            </a:lvl3pPr>
            <a:lvl4pPr algn="ctr">
              <a:defRPr sz="2550" b="1">
                <a:solidFill>
                  <a:srgbClr val="142B39"/>
                </a:solidFill>
              </a:defRPr>
            </a:lvl4pPr>
            <a:lvl5pPr algn="ctr">
              <a:defRPr sz="2550" b="1">
                <a:solidFill>
                  <a:srgbClr val="142B39"/>
                </a:solidFill>
              </a:defRPr>
            </a:lvl5pPr>
            <a:lvl6pPr algn="ctr">
              <a:defRPr sz="2550" b="1">
                <a:solidFill>
                  <a:srgbClr val="142B39"/>
                </a:solidFill>
              </a:defRPr>
            </a:lvl6pPr>
            <a:lvl7pPr algn="ctr">
              <a:defRPr sz="2550" b="1">
                <a:solidFill>
                  <a:srgbClr val="142B39"/>
                </a:solidFill>
              </a:defRPr>
            </a:lvl7pPr>
            <a:lvl8pPr algn="ctr">
              <a:defRPr sz="2550" b="1">
                <a:solidFill>
                  <a:srgbClr val="142B39"/>
                </a:solidFill>
              </a:defRPr>
            </a:lvl8pPr>
            <a:lvl9pPr algn="ctr">
              <a:defRPr sz="2550" b="1">
                <a:solidFill>
                  <a:srgbClr val="142B39"/>
                </a:solidFill>
              </a:defRPr>
            </a:lvl9pPr>
          </a:lstStyle>
          <a:p>
            <a:pPr algn="ctr">
              <a:defRPr sz="2550" b="1">
                <a:solidFill>
                  <a:srgbClr val="142B39"/>
                </a:solidFill>
              </a:defRPr>
            </a:pPr>
            <a:r>
              <a:rPr sz="2550" b="1">
                <a:solidFill>
                  <a:srgbClr val="142B39"/>
                </a:solidFill>
              </a:rPr>
              <a:t>Analyze</a:t>
            </a:r>
          </a:p>
          <a:p>
            <a:pPr algn="ctr">
              <a:defRPr sz="2550" b="1">
                <a:solidFill>
                  <a:srgbClr val="142B39"/>
                </a:solidFill>
              </a:defRPr>
            </a:pPr>
            <a:r>
              <a:rPr sz="2550" b="1">
                <a:solidFill>
                  <a:srgbClr val="142B39"/>
                </a:solidFill>
              </a:rPr>
              <a:t>the </a:t>
            </a:r>
            <a:r>
              <a:rPr lang="en-US"/>
              <a:t>quantities</a:t>
            </a:r>
            <a:endParaRPr sz="2550" b="1">
              <a:solidFill>
                <a:srgbClr val="142B39"/>
              </a:solidFill>
            </a:endParaRPr>
          </a:p>
        </p:txBody>
      </p:sp>
      <p:sp>
        <p:nvSpPr>
          <p:cNvPr id="26" name="Layout to model">
            <a:extLst>
              <a:ext uri="{FF2B5EF4-FFF2-40B4-BE49-F238E27FC236}">
                <a16:creationId xmlns:a16="http://schemas.microsoft.com/office/drawing/2014/main" id="{AAF3A392-B18C-8E49-85AF-BCD093035F3A}"/>
              </a:ext>
            </a:extLst>
          </p:cNvPr>
          <p:cNvSpPr>
            <a:spLocks noGrp="1"/>
          </p:cNvSpPr>
          <p:nvPr/>
        </p:nvSpPr>
        <p:spPr>
          <a:xfrm>
            <a:off x="8239125" y="2428875"/>
            <a:ext cx="1350549" cy="752475"/>
          </a:xfrm>
          <a:custGeom>
            <a:avLst/>
            <a:gdLst/>
            <a:ahLst/>
            <a:cxnLst/>
            <a:rect l="0" t="0" r="0" b="0"/>
            <a:pathLst>
              <a:path w="2619375" h="1123950">
                <a:moveTo>
                  <a:pt x="0" y="0"/>
                </a:moveTo>
                <a:cubicBezTo>
                  <a:pt x="1762125" y="0"/>
                  <a:pt x="2619375" y="333375"/>
                  <a:pt x="2524125" y="1123950"/>
                </a:cubicBezTo>
              </a:path>
            </a:pathLst>
          </a:custGeom>
          <a:noFill/>
          <a:ln w="57150">
            <a:solidFill>
              <a:srgbClr val="EB772D"/>
            </a:solidFill>
            <a:prstDash val="solid"/>
          </a:ln>
        </p:spPr>
        <p:txBody>
          <a:bodyPr/>
          <a:lstStyle/>
          <a:p>
            <a:endParaRPr lang="en-US"/>
          </a:p>
        </p:txBody>
      </p:sp>
      <p:sp>
        <p:nvSpPr>
          <p:cNvPr id="28" name="Arrow to model">
            <a:extLst>
              <a:ext uri="{FF2B5EF4-FFF2-40B4-BE49-F238E27FC236}">
                <a16:creationId xmlns:a16="http://schemas.microsoft.com/office/drawing/2014/main" id="{4757A178-9409-8A79-BDD3-2EC8951EF971}"/>
              </a:ext>
            </a:extLst>
          </p:cNvPr>
          <p:cNvSpPr>
            <a:spLocks noGrp="1"/>
          </p:cNvSpPr>
          <p:nvPr/>
        </p:nvSpPr>
        <p:spPr>
          <a:xfrm rot="11100000">
            <a:off x="9415462" y="3166165"/>
            <a:ext cx="209550" cy="209550"/>
          </a:xfrm>
          <a:prstGeom prst="triangle">
            <a:avLst/>
          </a:prstGeom>
          <a:solidFill>
            <a:srgbClr val="EB772D"/>
          </a:solidFill>
          <a:ln w="0">
            <a:noFill/>
          </a:ln>
        </p:spPr>
        <p:txBody>
          <a:bodyPr/>
          <a:lstStyle/>
          <a:p>
            <a:endParaRPr lang="en-US"/>
          </a:p>
        </p:txBody>
      </p:sp>
      <p:sp>
        <p:nvSpPr>
          <p:cNvPr id="30" name="Model to cost">
            <a:extLst>
              <a:ext uri="{FF2B5EF4-FFF2-40B4-BE49-F238E27FC236}">
                <a16:creationId xmlns:a16="http://schemas.microsoft.com/office/drawing/2014/main" id="{1472C7C7-F562-46F6-ED13-FFB1394C610C}"/>
              </a:ext>
            </a:extLst>
          </p:cNvPr>
          <p:cNvSpPr>
            <a:spLocks noGrp="1"/>
          </p:cNvSpPr>
          <p:nvPr/>
        </p:nvSpPr>
        <p:spPr>
          <a:xfrm>
            <a:off x="3648075" y="4886325"/>
            <a:ext cx="4857750" cy="933450"/>
          </a:xfrm>
          <a:custGeom>
            <a:avLst/>
            <a:gdLst/>
            <a:ahLst/>
            <a:cxnLst/>
            <a:rect l="0" t="0" r="0" b="0"/>
            <a:pathLst>
              <a:path w="4857750" h="933450">
                <a:moveTo>
                  <a:pt x="4857750" y="0"/>
                </a:moveTo>
                <a:cubicBezTo>
                  <a:pt x="4524375" y="952500"/>
                  <a:pt x="619125" y="952500"/>
                  <a:pt x="0" y="0"/>
                </a:cubicBezTo>
              </a:path>
            </a:pathLst>
          </a:custGeom>
          <a:noFill/>
          <a:ln w="57150">
            <a:solidFill>
              <a:srgbClr val="EB772D"/>
            </a:solidFill>
            <a:prstDash val="solid"/>
          </a:ln>
        </p:spPr>
        <p:txBody>
          <a:bodyPr/>
          <a:lstStyle/>
          <a:p>
            <a:endParaRPr lang="en-US"/>
          </a:p>
        </p:txBody>
      </p:sp>
      <p:sp>
        <p:nvSpPr>
          <p:cNvPr id="32" name="Arrow to cost">
            <a:extLst>
              <a:ext uri="{FF2B5EF4-FFF2-40B4-BE49-F238E27FC236}">
                <a16:creationId xmlns:a16="http://schemas.microsoft.com/office/drawing/2014/main" id="{100A6B26-7C85-C9E7-E0EF-F3081A81500C}"/>
              </a:ext>
            </a:extLst>
          </p:cNvPr>
          <p:cNvSpPr>
            <a:spLocks noGrp="1"/>
          </p:cNvSpPr>
          <p:nvPr/>
        </p:nvSpPr>
        <p:spPr>
          <a:xfrm rot="19500000">
            <a:off x="3543300" y="4781550"/>
            <a:ext cx="209550" cy="209550"/>
          </a:xfrm>
          <a:prstGeom prst="triangle">
            <a:avLst/>
          </a:prstGeom>
          <a:solidFill>
            <a:srgbClr val="EB772D"/>
          </a:solidFill>
          <a:ln w="0">
            <a:noFill/>
          </a:ln>
        </p:spPr>
        <p:txBody>
          <a:bodyPr/>
          <a:lstStyle/>
          <a:p>
            <a:endParaRPr lang="en-US"/>
          </a:p>
        </p:txBody>
      </p:sp>
      <p:sp>
        <p:nvSpPr>
          <p:cNvPr id="34" name="Cost to layout">
            <a:extLst>
              <a:ext uri="{FF2B5EF4-FFF2-40B4-BE49-F238E27FC236}">
                <a16:creationId xmlns:a16="http://schemas.microsoft.com/office/drawing/2014/main" id="{56C7E68C-E17A-7150-F56C-44210394EB8B}"/>
              </a:ext>
            </a:extLst>
          </p:cNvPr>
          <p:cNvSpPr>
            <a:spLocks noGrp="1"/>
          </p:cNvSpPr>
          <p:nvPr/>
        </p:nvSpPr>
        <p:spPr>
          <a:xfrm>
            <a:off x="2668137" y="2471737"/>
            <a:ext cx="1284738" cy="733425"/>
          </a:xfrm>
          <a:custGeom>
            <a:avLst/>
            <a:gdLst/>
            <a:ahLst/>
            <a:cxnLst/>
            <a:rect l="0" t="0" r="0" b="0"/>
            <a:pathLst>
              <a:path w="2619375" h="1123950">
                <a:moveTo>
                  <a:pt x="95250" y="1123950"/>
                </a:moveTo>
                <a:cubicBezTo>
                  <a:pt x="0" y="333375"/>
                  <a:pt x="857250" y="0"/>
                  <a:pt x="2619375" y="0"/>
                </a:cubicBezTo>
              </a:path>
            </a:pathLst>
          </a:custGeom>
          <a:noFill/>
          <a:ln w="57150">
            <a:solidFill>
              <a:srgbClr val="EB772D"/>
            </a:solidFill>
            <a:prstDash val="solid"/>
          </a:ln>
        </p:spPr>
        <p:txBody>
          <a:bodyPr/>
          <a:lstStyle/>
          <a:p>
            <a:endParaRPr lang="en-US"/>
          </a:p>
        </p:txBody>
      </p:sp>
      <p:sp>
        <p:nvSpPr>
          <p:cNvPr id="36" name="Arrow to layout">
            <a:extLst>
              <a:ext uri="{FF2B5EF4-FFF2-40B4-BE49-F238E27FC236}">
                <a16:creationId xmlns:a16="http://schemas.microsoft.com/office/drawing/2014/main" id="{1AFFE188-C3FF-A88C-CC30-EA8530F14BFC}"/>
              </a:ext>
            </a:extLst>
          </p:cNvPr>
          <p:cNvSpPr>
            <a:spLocks noGrp="1"/>
          </p:cNvSpPr>
          <p:nvPr/>
        </p:nvSpPr>
        <p:spPr>
          <a:xfrm rot="5400000">
            <a:off x="3867150" y="2381250"/>
            <a:ext cx="209550" cy="209550"/>
          </a:xfrm>
          <a:prstGeom prst="triangle">
            <a:avLst/>
          </a:prstGeom>
          <a:solidFill>
            <a:srgbClr val="EB772D"/>
          </a:solidFill>
          <a:ln w="0">
            <a:noFill/>
          </a:ln>
        </p:spPr>
        <p:txBody>
          <a:bodyPr/>
          <a:lstStyle/>
          <a:p>
            <a:endParaRPr lang="en-US"/>
          </a:p>
        </p:txBody>
      </p:sp>
    </p:spTree>
    <p:extLst>
      <p:ext uri="{BB962C8B-B14F-4D97-AF65-F5344CB8AC3E}">
        <p14:creationId xmlns:p14="http://schemas.microsoft.com/office/powerpoint/2010/main" val="42463475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B2A"/>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DE3169-BD87-4B3E-98C5-D6E13461ECF9}"/>
              </a:ext>
            </a:extLst>
          </p:cNvPr>
          <p:cNvSpPr>
            <a:spLocks noGrp="1"/>
          </p:cNvSpPr>
          <p:nvPr/>
        </p:nvSpPr>
        <p:spPr>
          <a:xfrm>
            <a:off x="609600" y="257175"/>
            <a:ext cx="10972800" cy="685800"/>
          </a:xfrm>
          <a:prstGeom prst="rect">
            <a:avLst/>
          </a:prstGeom>
          <a:noFill/>
          <a:ln w="0">
            <a:noFill/>
          </a:ln>
        </p:spPr>
        <p:txBody>
          <a:bodyPr lIns="0" tIns="0" rIns="0" bIns="0" anchor="t"/>
          <a:lstStyle>
            <a:defPPr>
              <a:defRPr sz="3600" b="1">
                <a:solidFill>
                  <a:srgbClr val="FFFFFF"/>
                </a:solidFill>
              </a:defRPr>
            </a:defPPr>
            <a:lvl1pPr>
              <a:defRPr sz="3600" b="1">
                <a:solidFill>
                  <a:srgbClr val="FFFFFF"/>
                </a:solidFill>
              </a:defRPr>
            </a:lvl1pPr>
            <a:lvl2pPr>
              <a:defRPr sz="3600" b="1">
                <a:solidFill>
                  <a:srgbClr val="FFFFFF"/>
                </a:solidFill>
              </a:defRPr>
            </a:lvl2pPr>
            <a:lvl3pPr>
              <a:defRPr sz="3600" b="1">
                <a:solidFill>
                  <a:srgbClr val="FFFFFF"/>
                </a:solidFill>
              </a:defRPr>
            </a:lvl3pPr>
            <a:lvl4pPr>
              <a:defRPr sz="3600" b="1">
                <a:solidFill>
                  <a:srgbClr val="FFFFFF"/>
                </a:solidFill>
              </a:defRPr>
            </a:lvl4pPr>
            <a:lvl5pPr>
              <a:defRPr sz="3600" b="1">
                <a:solidFill>
                  <a:srgbClr val="FFFFFF"/>
                </a:solidFill>
              </a:defRPr>
            </a:lvl5pPr>
            <a:lvl6pPr>
              <a:defRPr sz="3600" b="1">
                <a:solidFill>
                  <a:srgbClr val="FFFFFF"/>
                </a:solidFill>
              </a:defRPr>
            </a:lvl6pPr>
            <a:lvl7pPr>
              <a:defRPr sz="3600" b="1">
                <a:solidFill>
                  <a:srgbClr val="FFFFFF"/>
                </a:solidFill>
              </a:defRPr>
            </a:lvl7pPr>
            <a:lvl8pPr>
              <a:defRPr sz="3600" b="1">
                <a:solidFill>
                  <a:srgbClr val="FFFFFF"/>
                </a:solidFill>
              </a:defRPr>
            </a:lvl8pPr>
            <a:lvl9pPr>
              <a:defRPr sz="3600" b="1">
                <a:solidFill>
                  <a:srgbClr val="FFFFFF"/>
                </a:solidFill>
              </a:defRPr>
            </a:lvl9pPr>
          </a:lstStyle>
          <a:p>
            <a:pPr>
              <a:defRPr sz="3600" b="1">
                <a:solidFill>
                  <a:srgbClr val="FFFFFF"/>
                </a:solidFill>
              </a:defRPr>
            </a:pPr>
            <a:r>
              <a:rPr lang="en-US"/>
              <a:t>Let's SWOOP in!</a:t>
            </a:r>
            <a:endParaRPr sz="3600" b="1">
              <a:solidFill>
                <a:srgbClr val="FFFFFF"/>
              </a:solidFill>
            </a:endParaRPr>
          </a:p>
        </p:txBody>
      </p:sp>
      <p:sp>
        <p:nvSpPr>
          <p:cNvPr id="3" name="Page">
            <a:extLst>
              <a:ext uri="{FF2B5EF4-FFF2-40B4-BE49-F238E27FC236}">
                <a16:creationId xmlns:a16="http://schemas.microsoft.com/office/drawing/2014/main" id="{F7E7A27D-1005-44C3-A7F0-3FB6C1593F3E}"/>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91A9B9"/>
                </a:solidFill>
              </a:defRPr>
            </a:defPPr>
            <a:lvl1pPr>
              <a:defRPr sz="1275" b="0">
                <a:solidFill>
                  <a:srgbClr val="91A9B9"/>
                </a:solidFill>
              </a:defRPr>
            </a:lvl1pPr>
            <a:lvl2pPr>
              <a:defRPr sz="1275" b="0">
                <a:solidFill>
                  <a:srgbClr val="91A9B9"/>
                </a:solidFill>
              </a:defRPr>
            </a:lvl2pPr>
            <a:lvl3pPr>
              <a:defRPr sz="1275" b="0">
                <a:solidFill>
                  <a:srgbClr val="91A9B9"/>
                </a:solidFill>
              </a:defRPr>
            </a:lvl3pPr>
            <a:lvl4pPr>
              <a:defRPr sz="1275" b="0">
                <a:solidFill>
                  <a:srgbClr val="91A9B9"/>
                </a:solidFill>
              </a:defRPr>
            </a:lvl4pPr>
            <a:lvl5pPr>
              <a:defRPr sz="1275" b="0">
                <a:solidFill>
                  <a:srgbClr val="91A9B9"/>
                </a:solidFill>
              </a:defRPr>
            </a:lvl5pPr>
            <a:lvl6pPr>
              <a:defRPr sz="1275" b="0">
                <a:solidFill>
                  <a:srgbClr val="91A9B9"/>
                </a:solidFill>
              </a:defRPr>
            </a:lvl6pPr>
            <a:lvl7pPr>
              <a:defRPr sz="1275" b="0">
                <a:solidFill>
                  <a:srgbClr val="91A9B9"/>
                </a:solidFill>
              </a:defRPr>
            </a:lvl7pPr>
            <a:lvl8pPr>
              <a:defRPr sz="1275" b="0">
                <a:solidFill>
                  <a:srgbClr val="91A9B9"/>
                </a:solidFill>
              </a:defRPr>
            </a:lvl8pPr>
            <a:lvl9pPr>
              <a:defRPr sz="1275" b="0">
                <a:solidFill>
                  <a:srgbClr val="91A9B9"/>
                </a:solidFill>
              </a:defRPr>
            </a:lvl9pPr>
          </a:lstStyle>
          <a:p>
            <a:pPr>
              <a:defRPr sz="1275" b="0">
                <a:solidFill>
                  <a:srgbClr val="91A9B9"/>
                </a:solidFill>
              </a:defRPr>
            </a:pPr>
            <a:r>
              <a:rPr lang="en-US" sz="1275" b="0">
                <a:solidFill>
                  <a:srgbClr val="91A9B9"/>
                </a:solidFill>
              </a:rPr>
              <a:t>05</a:t>
            </a:r>
            <a:endParaRPr sz="1275" b="0">
              <a:solidFill>
                <a:srgbClr val="91A9B9"/>
              </a:solidFill>
            </a:endParaRPr>
          </a:p>
        </p:txBody>
      </p:sp>
      <p:sp>
        <p:nvSpPr>
          <p:cNvPr id="6" name="Promise">
            <a:extLst>
              <a:ext uri="{FF2B5EF4-FFF2-40B4-BE49-F238E27FC236}">
                <a16:creationId xmlns:a16="http://schemas.microsoft.com/office/drawing/2014/main" id="{AF2F0722-F7F1-4D59-9BB4-1156F71EE136}"/>
              </a:ext>
            </a:extLst>
          </p:cNvPr>
          <p:cNvSpPr>
            <a:spLocks noGrp="1"/>
          </p:cNvSpPr>
          <p:nvPr/>
        </p:nvSpPr>
        <p:spPr>
          <a:xfrm>
            <a:off x="609600" y="5860435"/>
            <a:ext cx="10608860" cy="502266"/>
          </a:xfrm>
          <a:prstGeom prst="rect">
            <a:avLst/>
          </a:prstGeom>
          <a:noFill/>
          <a:ln w="0">
            <a:noFill/>
          </a:ln>
        </p:spPr>
        <p:txBody>
          <a:bodyPr lIns="0" tIns="0" rIns="0" bIns="0"/>
          <a:lstStyle>
            <a:defPPr>
              <a:defRPr sz="2550" b="1">
                <a:solidFill>
                  <a:srgbClr val="FFFFFF"/>
                </a:solidFill>
              </a:defRPr>
            </a:defPPr>
            <a:lvl1pPr>
              <a:defRPr sz="2550" b="1">
                <a:solidFill>
                  <a:srgbClr val="FFFFFF"/>
                </a:solidFill>
              </a:defRPr>
            </a:lvl1pPr>
            <a:lvl2pPr>
              <a:defRPr sz="2550" b="1">
                <a:solidFill>
                  <a:srgbClr val="FFFFFF"/>
                </a:solidFill>
              </a:defRPr>
            </a:lvl2pPr>
            <a:lvl3pPr>
              <a:defRPr sz="2550" b="1">
                <a:solidFill>
                  <a:srgbClr val="FFFFFF"/>
                </a:solidFill>
              </a:defRPr>
            </a:lvl3pPr>
            <a:lvl4pPr>
              <a:defRPr sz="2550" b="1">
                <a:solidFill>
                  <a:srgbClr val="FFFFFF"/>
                </a:solidFill>
              </a:defRPr>
            </a:lvl4pPr>
            <a:lvl5pPr>
              <a:defRPr sz="2550" b="1">
                <a:solidFill>
                  <a:srgbClr val="FFFFFF"/>
                </a:solidFill>
              </a:defRPr>
            </a:lvl5pPr>
            <a:lvl6pPr>
              <a:defRPr sz="2550" b="1">
                <a:solidFill>
                  <a:srgbClr val="FFFFFF"/>
                </a:solidFill>
              </a:defRPr>
            </a:lvl6pPr>
            <a:lvl7pPr>
              <a:defRPr sz="2550" b="1">
                <a:solidFill>
                  <a:srgbClr val="FFFFFF"/>
                </a:solidFill>
              </a:defRPr>
            </a:lvl7pPr>
            <a:lvl8pPr>
              <a:defRPr sz="2550" b="1">
                <a:solidFill>
                  <a:srgbClr val="FFFFFF"/>
                </a:solidFill>
              </a:defRPr>
            </a:lvl8pPr>
            <a:lvl9pPr>
              <a:defRPr sz="2550" b="1">
                <a:solidFill>
                  <a:srgbClr val="FFFFFF"/>
                </a:solidFill>
              </a:defRPr>
            </a:lvl9pPr>
          </a:lstStyle>
          <a:p>
            <a:pPr>
              <a:defRPr sz="2550" b="1">
                <a:solidFill>
                  <a:srgbClr val="FFFFFF"/>
                </a:solidFill>
              </a:defRPr>
            </a:pPr>
            <a:r>
              <a:rPr lang="en-US" sz="2200" b="1">
                <a:solidFill>
                  <a:srgbClr val="FFFFFF"/>
                </a:solidFill>
              </a:rPr>
              <a:t>Desktop application that provides the optimization output of geometry and sizing.</a:t>
            </a:r>
          </a:p>
        </p:txBody>
      </p:sp>
      <p:pic>
        <p:nvPicPr>
          <p:cNvPr id="9" name="Picture 8">
            <a:extLst>
              <a:ext uri="{FF2B5EF4-FFF2-40B4-BE49-F238E27FC236}">
                <a16:creationId xmlns:a16="http://schemas.microsoft.com/office/drawing/2014/main" id="{025F8648-636C-F9DE-0F93-AC0672C7A1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1305" y="1105040"/>
            <a:ext cx="7929349" cy="4647919"/>
          </a:xfrm>
          <a:prstGeom prst="rect">
            <a:avLst/>
          </a:prstGeom>
        </p:spPr>
      </p:pic>
      <p:sp>
        <p:nvSpPr>
          <p:cNvPr id="7" name="TextBox 6">
            <a:extLst>
              <a:ext uri="{FF2B5EF4-FFF2-40B4-BE49-F238E27FC236}">
                <a16:creationId xmlns:a16="http://schemas.microsoft.com/office/drawing/2014/main" id="{77B29770-5B64-811B-0604-63008C7F82B5}"/>
              </a:ext>
            </a:extLst>
          </p:cNvPr>
          <p:cNvSpPr txBox="1"/>
          <p:nvPr/>
        </p:nvSpPr>
        <p:spPr>
          <a:xfrm>
            <a:off x="9013004" y="1190870"/>
            <a:ext cx="2747900" cy="3139321"/>
          </a:xfrm>
          <a:prstGeom prst="rect">
            <a:avLst/>
          </a:prstGeom>
          <a:noFill/>
          <a:ln>
            <a:solidFill>
              <a:srgbClr val="FFC000"/>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rgbClr val="FFC000"/>
                </a:solidFill>
              </a:rPr>
              <a:t>Tech Stack (built with Codex):</a:t>
            </a:r>
          </a:p>
          <a:p>
            <a:endParaRPr lang="en-US">
              <a:solidFill>
                <a:srgbClr val="FFC000"/>
              </a:solidFill>
            </a:endParaRPr>
          </a:p>
          <a:p>
            <a:pPr marL="342900" indent="-342900">
              <a:buAutoNum type="arabicPeriod"/>
            </a:pPr>
            <a:r>
              <a:rPr lang="en-US">
                <a:solidFill>
                  <a:srgbClr val="FFC000"/>
                </a:solidFill>
              </a:rPr>
              <a:t>Three.js/.NET</a:t>
            </a:r>
            <a:endParaRPr lang="en-US"/>
          </a:p>
          <a:p>
            <a:pPr marL="342900" indent="-342900">
              <a:buAutoNum type="arabicPeriod"/>
            </a:pPr>
            <a:r>
              <a:rPr lang="en-US">
                <a:solidFill>
                  <a:srgbClr val="FFC000"/>
                </a:solidFill>
              </a:rPr>
              <a:t>Python</a:t>
            </a:r>
          </a:p>
          <a:p>
            <a:pPr marL="342900" indent="-342900">
              <a:buAutoNum type="arabicPeriod"/>
            </a:pPr>
            <a:r>
              <a:rPr lang="en-US" err="1">
                <a:solidFill>
                  <a:srgbClr val="FFC000"/>
                </a:solidFill>
              </a:rPr>
              <a:t>Opensees</a:t>
            </a:r>
            <a:endParaRPr lang="en-US">
              <a:solidFill>
                <a:srgbClr val="FFC000"/>
              </a:solidFill>
            </a:endParaRPr>
          </a:p>
          <a:p>
            <a:pPr marL="342900" indent="-342900">
              <a:buAutoNum type="arabicPeriod"/>
            </a:pPr>
            <a:endParaRPr lang="en-US">
              <a:solidFill>
                <a:srgbClr val="FFC000"/>
              </a:solidFill>
            </a:endParaRPr>
          </a:p>
          <a:p>
            <a:r>
              <a:rPr lang="en-US">
                <a:solidFill>
                  <a:srgbClr val="FFC000"/>
                </a:solidFill>
              </a:rPr>
              <a:t>Optional Output files:</a:t>
            </a:r>
          </a:p>
          <a:p>
            <a:pPr marL="342900" indent="-342900">
              <a:buAutoNum type="arabicPeriod"/>
            </a:pPr>
            <a:r>
              <a:rPr lang="en-US">
                <a:solidFill>
                  <a:srgbClr val="FFC000"/>
                </a:solidFill>
              </a:rPr>
              <a:t>Rhino</a:t>
            </a:r>
          </a:p>
          <a:p>
            <a:pPr marL="342900" indent="-342900">
              <a:buAutoNum type="arabicPeriod"/>
            </a:pPr>
            <a:r>
              <a:rPr lang="en-US">
                <a:solidFill>
                  <a:srgbClr val="FFC000"/>
                </a:solidFill>
              </a:rPr>
              <a:t>Blender</a:t>
            </a:r>
          </a:p>
          <a:p>
            <a:endParaRPr lang="en-US">
              <a:solidFill>
                <a:srgbClr val="FFC000"/>
              </a:solidFill>
            </a:endParaRPr>
          </a:p>
        </p:txBody>
      </p:sp>
      <p:pic>
        <p:nvPicPr>
          <p:cNvPr id="4" name="Picture 3" descr="An Introduction to OpenSeesPy for 2D Truss Analysis | EngineeringSkills.com">
            <a:extLst>
              <a:ext uri="{FF2B5EF4-FFF2-40B4-BE49-F238E27FC236}">
                <a16:creationId xmlns:a16="http://schemas.microsoft.com/office/drawing/2014/main" id="{98D129CF-CC43-F1F2-D6F5-EE33F491762C}"/>
              </a:ext>
            </a:extLst>
          </p:cNvPr>
          <p:cNvPicPr>
            <a:picLocks noChangeAspect="1"/>
          </p:cNvPicPr>
          <p:nvPr/>
        </p:nvPicPr>
        <p:blipFill>
          <a:blip r:embed="rId4"/>
          <a:srcRect r="278" b="752"/>
          <a:stretch>
            <a:fillRect/>
          </a:stretch>
        </p:blipFill>
        <p:spPr>
          <a:xfrm>
            <a:off x="9738677" y="4211002"/>
            <a:ext cx="1848459" cy="681274"/>
          </a:xfrm>
          <a:prstGeom prst="rect">
            <a:avLst/>
          </a:prstGeom>
        </p:spPr>
      </p:pic>
    </p:spTree>
    <p:extLst>
      <p:ext uri="{BB962C8B-B14F-4D97-AF65-F5344CB8AC3E}">
        <p14:creationId xmlns:p14="http://schemas.microsoft.com/office/powerpoint/2010/main" val="9863033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8BBAD69-E25F-4516-82B4-A7CFBD41F1C9}"/>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sz="3600" b="1">
                <a:solidFill>
                  <a:srgbClr val="142B39"/>
                </a:solidFill>
              </a:rPr>
              <a:t>Architectural </a:t>
            </a:r>
            <a:r>
              <a:rPr lang="en-US"/>
              <a:t>F</a:t>
            </a:r>
            <a:r>
              <a:rPr sz="3600" b="1">
                <a:solidFill>
                  <a:srgbClr val="142B39"/>
                </a:solidFill>
              </a:rPr>
              <a:t>loor </a:t>
            </a:r>
            <a:r>
              <a:rPr lang="en-US" sz="3600" b="1">
                <a:solidFill>
                  <a:srgbClr val="142B39"/>
                </a:solidFill>
              </a:rPr>
              <a:t>P</a:t>
            </a:r>
            <a:r>
              <a:rPr sz="3600" b="1">
                <a:solidFill>
                  <a:srgbClr val="142B39"/>
                </a:solidFill>
              </a:rPr>
              <a:t>lan</a:t>
            </a:r>
            <a:r>
              <a:rPr lang="en-US" sz="3600" b="1">
                <a:solidFill>
                  <a:srgbClr val="142B39"/>
                </a:solidFill>
              </a:rPr>
              <a:t> Input Module</a:t>
            </a:r>
            <a:endParaRPr sz="3600" b="1">
              <a:solidFill>
                <a:srgbClr val="142B39"/>
              </a:solidFill>
            </a:endParaRPr>
          </a:p>
        </p:txBody>
      </p:sp>
      <p:sp>
        <p:nvSpPr>
          <p:cNvPr id="3" name="Page">
            <a:extLst>
              <a:ext uri="{FF2B5EF4-FFF2-40B4-BE49-F238E27FC236}">
                <a16:creationId xmlns:a16="http://schemas.microsoft.com/office/drawing/2014/main" id="{CFF2A0D4-90FD-4542-BCF0-4B35BA93CCF7}"/>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lang="en-US" sz="1275" b="0">
                <a:solidFill>
                  <a:srgbClr val="687782"/>
                </a:solidFill>
              </a:rPr>
              <a:t>06</a:t>
            </a:r>
            <a:endParaRPr sz="1275" b="0">
              <a:solidFill>
                <a:srgbClr val="687782"/>
              </a:solidFill>
            </a:endParaRPr>
          </a:p>
        </p:txBody>
      </p:sp>
      <p:pic>
        <p:nvPicPr>
          <p:cNvPr id="11" name="Picture 10">
            <a:extLst>
              <a:ext uri="{FF2B5EF4-FFF2-40B4-BE49-F238E27FC236}">
                <a16:creationId xmlns:a16="http://schemas.microsoft.com/office/drawing/2014/main" id="{BCC291BD-8478-A537-3DB5-EF81888CD9B8}"/>
              </a:ext>
            </a:extLst>
          </p:cNvPr>
          <p:cNvPicPr>
            <a:picLocks noChangeAspect="1"/>
          </p:cNvPicPr>
          <p:nvPr/>
        </p:nvPicPr>
        <p:blipFill>
          <a:blip r:embed="rId3"/>
          <a:stretch>
            <a:fillRect/>
          </a:stretch>
        </p:blipFill>
        <p:spPr>
          <a:xfrm>
            <a:off x="866631" y="1122486"/>
            <a:ext cx="3862317" cy="5298828"/>
          </a:xfrm>
          <a:prstGeom prst="rect">
            <a:avLst/>
          </a:prstGeom>
        </p:spPr>
      </p:pic>
      <p:sp>
        <p:nvSpPr>
          <p:cNvPr id="20" name="Arrow: Right 19">
            <a:extLst>
              <a:ext uri="{FF2B5EF4-FFF2-40B4-BE49-F238E27FC236}">
                <a16:creationId xmlns:a16="http://schemas.microsoft.com/office/drawing/2014/main" id="{C5448979-D14D-886E-E333-FE7A2CD4611C}"/>
              </a:ext>
            </a:extLst>
          </p:cNvPr>
          <p:cNvSpPr/>
          <p:nvPr/>
        </p:nvSpPr>
        <p:spPr>
          <a:xfrm>
            <a:off x="5786649" y="3098041"/>
            <a:ext cx="1644555" cy="9485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itle">
            <a:extLst>
              <a:ext uri="{FF2B5EF4-FFF2-40B4-BE49-F238E27FC236}">
                <a16:creationId xmlns:a16="http://schemas.microsoft.com/office/drawing/2014/main" id="{DE3080CB-C702-EE0E-BC09-4D286DE6ADA4}"/>
              </a:ext>
            </a:extLst>
          </p:cNvPr>
          <p:cNvSpPr>
            <a:spLocks noGrp="1"/>
          </p:cNvSpPr>
          <p:nvPr/>
        </p:nvSpPr>
        <p:spPr>
          <a:xfrm>
            <a:off x="8488906" y="3229401"/>
            <a:ext cx="2442951"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a:t>.Json File</a:t>
            </a:r>
            <a:endParaRPr sz="3600" b="1">
              <a:solidFill>
                <a:srgbClr val="142B39"/>
              </a:solidFill>
            </a:endParaRPr>
          </a:p>
        </p:txBody>
      </p:sp>
      <p:sp>
        <p:nvSpPr>
          <p:cNvPr id="4" name="Title">
            <a:extLst>
              <a:ext uri="{FF2B5EF4-FFF2-40B4-BE49-F238E27FC236}">
                <a16:creationId xmlns:a16="http://schemas.microsoft.com/office/drawing/2014/main" id="{543DDCE3-3D1F-1D97-80B3-ED9AF6EC1C56}"/>
              </a:ext>
            </a:extLst>
          </p:cNvPr>
          <p:cNvSpPr>
            <a:spLocks noGrp="1"/>
          </p:cNvSpPr>
          <p:nvPr/>
        </p:nvSpPr>
        <p:spPr>
          <a:xfrm>
            <a:off x="8488906" y="4046559"/>
            <a:ext cx="3335034" cy="1238557"/>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sz="2000" b="0">
                <a:solidFill>
                  <a:srgbClr val="142B39"/>
                </a:solidFill>
              </a:rPr>
              <a:t>File contains geometry and locations of the </a:t>
            </a:r>
            <a:r>
              <a:rPr lang="en-US" sz="2000" b="0"/>
              <a:t>structural walls and columns </a:t>
            </a:r>
            <a:endParaRPr lang="en-US" sz="2000" b="0">
              <a:solidFill>
                <a:srgbClr val="142B39"/>
              </a:solidFill>
            </a:endParaRPr>
          </a:p>
        </p:txBody>
      </p:sp>
    </p:spTree>
    <p:extLst>
      <p:ext uri="{BB962C8B-B14F-4D97-AF65-F5344CB8AC3E}">
        <p14:creationId xmlns:p14="http://schemas.microsoft.com/office/powerpoint/2010/main" val="20424706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a:extLst>
            <a:ext uri="{FF2B5EF4-FFF2-40B4-BE49-F238E27FC236}">
              <a16:creationId xmlns:a16="http://schemas.microsoft.com/office/drawing/2014/main" id="{639C2E48-5BEF-8B2A-D938-35A436957B9C}"/>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DC3357CC-BE0F-7C96-0C2B-2E8AFB2E8652}"/>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sz="3600" b="1">
                <a:solidFill>
                  <a:srgbClr val="142B39"/>
                </a:solidFill>
              </a:rPr>
              <a:t>Load Input Module</a:t>
            </a:r>
            <a:endParaRPr sz="3600" b="1">
              <a:solidFill>
                <a:srgbClr val="142B39"/>
              </a:solidFill>
            </a:endParaRPr>
          </a:p>
        </p:txBody>
      </p:sp>
      <p:sp>
        <p:nvSpPr>
          <p:cNvPr id="3" name="Page">
            <a:extLst>
              <a:ext uri="{FF2B5EF4-FFF2-40B4-BE49-F238E27FC236}">
                <a16:creationId xmlns:a16="http://schemas.microsoft.com/office/drawing/2014/main" id="{56DBD791-8074-13BD-409C-C59C692A6B18}"/>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lang="en-US" sz="1275" b="0">
                <a:solidFill>
                  <a:srgbClr val="687782"/>
                </a:solidFill>
              </a:rPr>
              <a:t>07</a:t>
            </a:r>
            <a:endParaRPr sz="1275" b="0">
              <a:solidFill>
                <a:srgbClr val="687782"/>
              </a:solidFill>
            </a:endParaRPr>
          </a:p>
        </p:txBody>
      </p:sp>
      <p:pic>
        <p:nvPicPr>
          <p:cNvPr id="5" name="Picture 4">
            <a:extLst>
              <a:ext uri="{FF2B5EF4-FFF2-40B4-BE49-F238E27FC236}">
                <a16:creationId xmlns:a16="http://schemas.microsoft.com/office/drawing/2014/main" id="{CC8E9C5E-03EB-4E0A-BBA2-1896DF38F621}"/>
              </a:ext>
            </a:extLst>
          </p:cNvPr>
          <p:cNvPicPr>
            <a:picLocks noChangeAspect="1"/>
          </p:cNvPicPr>
          <p:nvPr/>
        </p:nvPicPr>
        <p:blipFill>
          <a:blip r:embed="rId3"/>
          <a:stretch>
            <a:fillRect/>
          </a:stretch>
        </p:blipFill>
        <p:spPr>
          <a:xfrm>
            <a:off x="765485" y="1076960"/>
            <a:ext cx="2045350" cy="5679440"/>
          </a:xfrm>
          <a:prstGeom prst="rect">
            <a:avLst/>
          </a:prstGeom>
        </p:spPr>
      </p:pic>
      <p:sp>
        <p:nvSpPr>
          <p:cNvPr id="7" name="Arrow: Right 6">
            <a:extLst>
              <a:ext uri="{FF2B5EF4-FFF2-40B4-BE49-F238E27FC236}">
                <a16:creationId xmlns:a16="http://schemas.microsoft.com/office/drawing/2014/main" id="{EE82C6A4-D345-A43E-CD6E-AD16922039BD}"/>
              </a:ext>
            </a:extLst>
          </p:cNvPr>
          <p:cNvSpPr/>
          <p:nvPr/>
        </p:nvSpPr>
        <p:spPr>
          <a:xfrm>
            <a:off x="5786649" y="3098041"/>
            <a:ext cx="1644555" cy="94851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itle">
            <a:extLst>
              <a:ext uri="{FF2B5EF4-FFF2-40B4-BE49-F238E27FC236}">
                <a16:creationId xmlns:a16="http://schemas.microsoft.com/office/drawing/2014/main" id="{0EB96076-158B-6547-302A-74E1B9A87D69}"/>
              </a:ext>
            </a:extLst>
          </p:cNvPr>
          <p:cNvSpPr>
            <a:spLocks noGrp="1"/>
          </p:cNvSpPr>
          <p:nvPr/>
        </p:nvSpPr>
        <p:spPr>
          <a:xfrm>
            <a:off x="8488906" y="3229401"/>
            <a:ext cx="2442951" cy="685800"/>
          </a:xfrm>
          <a:prstGeom prst="rect">
            <a:avLst/>
          </a:prstGeom>
          <a:noFill/>
          <a:ln w="0">
            <a:noFill/>
          </a:ln>
        </p:spPr>
        <p:txBody>
          <a:bodyPr lIns="0" tIns="0" rIns="0" bIns="0" anchor="t"/>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a:t>.</a:t>
            </a:r>
            <a:r>
              <a:rPr lang="en-US" err="1"/>
              <a:t>json</a:t>
            </a:r>
            <a:r>
              <a:rPr lang="en-US"/>
              <a:t> File</a:t>
            </a:r>
            <a:endParaRPr sz="3600" b="1">
              <a:solidFill>
                <a:srgbClr val="142B39"/>
              </a:solidFill>
            </a:endParaRPr>
          </a:p>
        </p:txBody>
      </p:sp>
      <p:sp>
        <p:nvSpPr>
          <p:cNvPr id="12" name="Title">
            <a:extLst>
              <a:ext uri="{FF2B5EF4-FFF2-40B4-BE49-F238E27FC236}">
                <a16:creationId xmlns:a16="http://schemas.microsoft.com/office/drawing/2014/main" id="{C8C5A776-6CF2-9F4D-E1F4-A6036919838A}"/>
              </a:ext>
            </a:extLst>
          </p:cNvPr>
          <p:cNvSpPr>
            <a:spLocks noGrp="1"/>
          </p:cNvSpPr>
          <p:nvPr/>
        </p:nvSpPr>
        <p:spPr>
          <a:xfrm>
            <a:off x="8488906" y="4046559"/>
            <a:ext cx="3335034" cy="1238557"/>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lang="en-US" sz="2000" b="0">
                <a:solidFill>
                  <a:srgbClr val="142B39"/>
                </a:solidFill>
              </a:rPr>
              <a:t>File contains </a:t>
            </a:r>
            <a:r>
              <a:rPr lang="en-US" sz="2000" b="0"/>
              <a:t>loads that will be used in agentic optimizer</a:t>
            </a:r>
            <a:endParaRPr lang="en-US" sz="2000" b="0">
              <a:solidFill>
                <a:srgbClr val="142B39"/>
              </a:solidFill>
            </a:endParaRPr>
          </a:p>
        </p:txBody>
      </p:sp>
      <p:pic>
        <p:nvPicPr>
          <p:cNvPr id="4" name="Picture 3">
            <a:extLst>
              <a:ext uri="{FF2B5EF4-FFF2-40B4-BE49-F238E27FC236}">
                <a16:creationId xmlns:a16="http://schemas.microsoft.com/office/drawing/2014/main" id="{CDD9CE5B-EAB9-3412-BA1F-5C3F816FA47C}"/>
              </a:ext>
            </a:extLst>
          </p:cNvPr>
          <p:cNvPicPr>
            <a:picLocks noChangeAspect="1"/>
          </p:cNvPicPr>
          <p:nvPr/>
        </p:nvPicPr>
        <p:blipFill>
          <a:blip r:embed="rId4"/>
          <a:stretch>
            <a:fillRect/>
          </a:stretch>
        </p:blipFill>
        <p:spPr>
          <a:xfrm>
            <a:off x="3183565" y="1076960"/>
            <a:ext cx="2136790" cy="5679440"/>
          </a:xfrm>
          <a:prstGeom prst="rect">
            <a:avLst/>
          </a:prstGeom>
        </p:spPr>
      </p:pic>
    </p:spTree>
    <p:extLst>
      <p:ext uri="{BB962C8B-B14F-4D97-AF65-F5344CB8AC3E}">
        <p14:creationId xmlns:p14="http://schemas.microsoft.com/office/powerpoint/2010/main" val="40667134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352BE67A-D5BB-5846-A40C-E17B3999E107}"/>
              </a:ext>
            </a:extLst>
          </p:cNvPr>
          <p:cNvPicPr>
            <a:picLocks noChangeAspect="1"/>
          </p:cNvPicPr>
          <p:nvPr/>
        </p:nvPicPr>
        <p:blipFill>
          <a:blip r:embed="rId3"/>
          <a:stretch>
            <a:fillRect/>
          </a:stretch>
        </p:blipFill>
        <p:spPr>
          <a:xfrm>
            <a:off x="0" y="188292"/>
            <a:ext cx="12192000" cy="6481416"/>
          </a:xfrm>
          <a:prstGeom prst="rect">
            <a:avLst/>
          </a:prstGeom>
        </p:spPr>
      </p:pic>
      <p:sp>
        <p:nvSpPr>
          <p:cNvPr id="3" name="Page">
            <a:extLst>
              <a:ext uri="{FF2B5EF4-FFF2-40B4-BE49-F238E27FC236}">
                <a16:creationId xmlns:a16="http://schemas.microsoft.com/office/drawing/2014/main" id="{9FC96CE8-488B-4079-976D-3F73CEF57362}"/>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lang="en-US" sz="1275" b="0">
                <a:solidFill>
                  <a:srgbClr val="687782"/>
                </a:solidFill>
              </a:rPr>
              <a:t>08</a:t>
            </a:r>
            <a:endParaRPr sz="1275" b="0">
              <a:solidFill>
                <a:srgbClr val="687782"/>
              </a:solidFill>
            </a:endParaRPr>
          </a:p>
        </p:txBody>
      </p:sp>
      <p:sp>
        <p:nvSpPr>
          <p:cNvPr id="2" name="TextBox 1">
            <a:extLst>
              <a:ext uri="{FF2B5EF4-FFF2-40B4-BE49-F238E27FC236}">
                <a16:creationId xmlns:a16="http://schemas.microsoft.com/office/drawing/2014/main" id="{10F898B7-7472-B3AF-1D98-A0699F4A9BEA}"/>
              </a:ext>
            </a:extLst>
          </p:cNvPr>
          <p:cNvSpPr txBox="1"/>
          <p:nvPr/>
        </p:nvSpPr>
        <p:spPr>
          <a:xfrm>
            <a:off x="137890" y="191613"/>
            <a:ext cx="12192847" cy="1015663"/>
          </a:xfrm>
          <a:prstGeom prst="rect">
            <a:avLst/>
          </a:prstGeom>
          <a:solidFill>
            <a:srgbClr val="F5F2EC"/>
          </a:solid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600" b="1">
                <a:solidFill>
                  <a:srgbClr val="142B39"/>
                </a:solidFill>
              </a:rPr>
              <a:t>Tall point tower – shear wall + outrigger optimization</a:t>
            </a:r>
          </a:p>
          <a:p>
            <a:endParaRPr lang="en-US" sz="2400" b="1">
              <a:latin typeface="Modern No. 20"/>
            </a:endParaRPr>
          </a:p>
        </p:txBody>
      </p:sp>
      <p:sp>
        <p:nvSpPr>
          <p:cNvPr id="4" name="TextBox 3">
            <a:extLst>
              <a:ext uri="{FF2B5EF4-FFF2-40B4-BE49-F238E27FC236}">
                <a16:creationId xmlns:a16="http://schemas.microsoft.com/office/drawing/2014/main" id="{3CF56BFF-C4F2-2A23-FC4C-C86AFDB072F0}"/>
              </a:ext>
            </a:extLst>
          </p:cNvPr>
          <p:cNvSpPr txBox="1"/>
          <p:nvPr/>
        </p:nvSpPr>
        <p:spPr>
          <a:xfrm>
            <a:off x="413288" y="1756474"/>
            <a:ext cx="3086745" cy="1477328"/>
          </a:xfrm>
          <a:prstGeom prst="rect">
            <a:avLst/>
          </a:prstGeom>
          <a:solidFill>
            <a:srgbClr val="EEF3F7"/>
          </a:solidFill>
          <a:ln>
            <a:solidFill>
              <a:srgbClr val="EEF3F7"/>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Original Inputs</a:t>
            </a:r>
          </a:p>
          <a:p>
            <a:endParaRPr lang="en-US"/>
          </a:p>
          <a:p>
            <a:pPr marL="285750" indent="-285750">
              <a:buFont typeface="Arial"/>
              <a:buChar char="•"/>
            </a:pPr>
            <a:r>
              <a:rPr lang="en-US"/>
              <a:t>Initial Wall Geometry</a:t>
            </a:r>
          </a:p>
          <a:p>
            <a:pPr marL="285750" indent="-285750">
              <a:buFont typeface="Arial"/>
              <a:buChar char="•"/>
            </a:pPr>
            <a:r>
              <a:rPr lang="en-US"/>
              <a:t>Loads</a:t>
            </a:r>
          </a:p>
          <a:p>
            <a:pPr marL="285750" indent="-285750">
              <a:buFont typeface="Arial"/>
              <a:buChar char="•"/>
            </a:pPr>
            <a:r>
              <a:rPr lang="en-US"/>
              <a:t>Deflection Limits</a:t>
            </a:r>
          </a:p>
        </p:txBody>
      </p:sp>
      <p:sp>
        <p:nvSpPr>
          <p:cNvPr id="5" name="TextBox 4">
            <a:extLst>
              <a:ext uri="{FF2B5EF4-FFF2-40B4-BE49-F238E27FC236}">
                <a16:creationId xmlns:a16="http://schemas.microsoft.com/office/drawing/2014/main" id="{FF620137-2F3B-1F06-3648-02C0992BD717}"/>
              </a:ext>
            </a:extLst>
          </p:cNvPr>
          <p:cNvSpPr txBox="1"/>
          <p:nvPr/>
        </p:nvSpPr>
        <p:spPr>
          <a:xfrm>
            <a:off x="413287" y="3930714"/>
            <a:ext cx="3086745" cy="1477328"/>
          </a:xfrm>
          <a:prstGeom prst="rect">
            <a:avLst/>
          </a:prstGeom>
          <a:solidFill>
            <a:srgbClr val="EEF3F7"/>
          </a:solidFill>
          <a:ln>
            <a:solidFill>
              <a:srgbClr val="EEF3F7"/>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Optimizer Variables</a:t>
            </a:r>
          </a:p>
          <a:p>
            <a:endParaRPr lang="en-US"/>
          </a:p>
          <a:p>
            <a:pPr marL="285750" indent="-285750">
              <a:buFont typeface="Arial"/>
              <a:buChar char="•"/>
            </a:pPr>
            <a:r>
              <a:rPr lang="en-US"/>
              <a:t>Number of Outriggers</a:t>
            </a:r>
          </a:p>
          <a:p>
            <a:pPr marL="285750" indent="-285750">
              <a:buFont typeface="Arial"/>
              <a:buChar char="•"/>
            </a:pPr>
            <a:r>
              <a:rPr lang="en-US"/>
              <a:t>Outrigger wall thickness</a:t>
            </a:r>
          </a:p>
          <a:p>
            <a:pPr marL="285750" indent="-285750">
              <a:buFont typeface="Arial"/>
              <a:buChar char="•"/>
            </a:pPr>
            <a:r>
              <a:rPr lang="en-US"/>
              <a:t>Outrigger wall height</a:t>
            </a:r>
          </a:p>
        </p:txBody>
      </p:sp>
    </p:spTree>
    <p:extLst>
      <p:ext uri="{BB962C8B-B14F-4D97-AF65-F5344CB8AC3E}">
        <p14:creationId xmlns:p14="http://schemas.microsoft.com/office/powerpoint/2010/main" val="13802324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F2EC"/>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2C1D507-0388-4539-98E4-FC42FC5CAFBE}"/>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142B39"/>
                </a:solidFill>
              </a:defRPr>
            </a:defPPr>
            <a:lvl1pPr>
              <a:defRPr sz="3600" b="1">
                <a:solidFill>
                  <a:srgbClr val="142B39"/>
                </a:solidFill>
              </a:defRPr>
            </a:lvl1pPr>
            <a:lvl2pPr>
              <a:defRPr sz="3600" b="1">
                <a:solidFill>
                  <a:srgbClr val="142B39"/>
                </a:solidFill>
              </a:defRPr>
            </a:lvl2pPr>
            <a:lvl3pPr>
              <a:defRPr sz="3600" b="1">
                <a:solidFill>
                  <a:srgbClr val="142B39"/>
                </a:solidFill>
              </a:defRPr>
            </a:lvl3pPr>
            <a:lvl4pPr>
              <a:defRPr sz="3600" b="1">
                <a:solidFill>
                  <a:srgbClr val="142B39"/>
                </a:solidFill>
              </a:defRPr>
            </a:lvl4pPr>
            <a:lvl5pPr>
              <a:defRPr sz="3600" b="1">
                <a:solidFill>
                  <a:srgbClr val="142B39"/>
                </a:solidFill>
              </a:defRPr>
            </a:lvl5pPr>
            <a:lvl6pPr>
              <a:defRPr sz="3600" b="1">
                <a:solidFill>
                  <a:srgbClr val="142B39"/>
                </a:solidFill>
              </a:defRPr>
            </a:lvl6pPr>
            <a:lvl7pPr>
              <a:defRPr sz="3600" b="1">
                <a:solidFill>
                  <a:srgbClr val="142B39"/>
                </a:solidFill>
              </a:defRPr>
            </a:lvl7pPr>
            <a:lvl8pPr>
              <a:defRPr sz="3600" b="1">
                <a:solidFill>
                  <a:srgbClr val="142B39"/>
                </a:solidFill>
              </a:defRPr>
            </a:lvl8pPr>
            <a:lvl9pPr>
              <a:defRPr sz="3600" b="1">
                <a:solidFill>
                  <a:srgbClr val="142B39"/>
                </a:solidFill>
              </a:defRPr>
            </a:lvl9pPr>
          </a:lstStyle>
          <a:p>
            <a:pPr>
              <a:defRPr sz="3600" b="1">
                <a:solidFill>
                  <a:srgbClr val="142B39"/>
                </a:solidFill>
              </a:defRPr>
            </a:pPr>
            <a:r>
              <a:rPr sz="3600" b="1">
                <a:solidFill>
                  <a:srgbClr val="142B39"/>
                </a:solidFill>
              </a:rPr>
              <a:t>Output</a:t>
            </a:r>
            <a:endParaRPr lang="en-US"/>
          </a:p>
        </p:txBody>
      </p:sp>
      <p:sp>
        <p:nvSpPr>
          <p:cNvPr id="3" name="Page">
            <a:extLst>
              <a:ext uri="{FF2B5EF4-FFF2-40B4-BE49-F238E27FC236}">
                <a16:creationId xmlns:a16="http://schemas.microsoft.com/office/drawing/2014/main" id="{4A2DA416-1F87-422B-808F-5EAECE8AE714}"/>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687782"/>
                </a:solidFill>
              </a:defRPr>
            </a:defPPr>
            <a:lvl1pPr>
              <a:defRPr sz="1275" b="0">
                <a:solidFill>
                  <a:srgbClr val="687782"/>
                </a:solidFill>
              </a:defRPr>
            </a:lvl1pPr>
            <a:lvl2pPr>
              <a:defRPr sz="1275" b="0">
                <a:solidFill>
                  <a:srgbClr val="687782"/>
                </a:solidFill>
              </a:defRPr>
            </a:lvl2pPr>
            <a:lvl3pPr>
              <a:defRPr sz="1275" b="0">
                <a:solidFill>
                  <a:srgbClr val="687782"/>
                </a:solidFill>
              </a:defRPr>
            </a:lvl3pPr>
            <a:lvl4pPr>
              <a:defRPr sz="1275" b="0">
                <a:solidFill>
                  <a:srgbClr val="687782"/>
                </a:solidFill>
              </a:defRPr>
            </a:lvl4pPr>
            <a:lvl5pPr>
              <a:defRPr sz="1275" b="0">
                <a:solidFill>
                  <a:srgbClr val="687782"/>
                </a:solidFill>
              </a:defRPr>
            </a:lvl5pPr>
            <a:lvl6pPr>
              <a:defRPr sz="1275" b="0">
                <a:solidFill>
                  <a:srgbClr val="687782"/>
                </a:solidFill>
              </a:defRPr>
            </a:lvl6pPr>
            <a:lvl7pPr>
              <a:defRPr sz="1275" b="0">
                <a:solidFill>
                  <a:srgbClr val="687782"/>
                </a:solidFill>
              </a:defRPr>
            </a:lvl7pPr>
            <a:lvl8pPr>
              <a:defRPr sz="1275" b="0">
                <a:solidFill>
                  <a:srgbClr val="687782"/>
                </a:solidFill>
              </a:defRPr>
            </a:lvl8pPr>
            <a:lvl9pPr>
              <a:defRPr sz="1275" b="0">
                <a:solidFill>
                  <a:srgbClr val="687782"/>
                </a:solidFill>
              </a:defRPr>
            </a:lvl9pPr>
          </a:lstStyle>
          <a:p>
            <a:pPr>
              <a:defRPr sz="1275" b="0">
                <a:solidFill>
                  <a:srgbClr val="687782"/>
                </a:solidFill>
              </a:defRPr>
            </a:pPr>
            <a:r>
              <a:rPr lang="en-US" sz="1275" b="0">
                <a:solidFill>
                  <a:srgbClr val="687782"/>
                </a:solidFill>
              </a:rPr>
              <a:t>09</a:t>
            </a:r>
            <a:endParaRPr sz="1275" b="0">
              <a:solidFill>
                <a:srgbClr val="687782"/>
              </a:solidFill>
            </a:endParaRPr>
          </a:p>
        </p:txBody>
      </p:sp>
      <p:sp>
        <p:nvSpPr>
          <p:cNvPr id="4" name="Image placeholder: [Output: shear wall layout]">
            <a:extLst>
              <a:ext uri="{FF2B5EF4-FFF2-40B4-BE49-F238E27FC236}">
                <a16:creationId xmlns:a16="http://schemas.microsoft.com/office/drawing/2014/main" id="{1260B784-215E-48C7-B14E-AB9AF509175F}"/>
              </a:ext>
            </a:extLst>
          </p:cNvPr>
          <p:cNvSpPr>
            <a:spLocks noGrp="1"/>
          </p:cNvSpPr>
          <p:nvPr/>
        </p:nvSpPr>
        <p:spPr>
          <a:xfrm>
            <a:off x="609600" y="1695450"/>
            <a:ext cx="5295900" cy="3295650"/>
          </a:xfrm>
          <a:prstGeom prst="rect">
            <a:avLst/>
          </a:prstGeom>
          <a:solidFill>
            <a:srgbClr val="E8E5DE"/>
          </a:solidFill>
          <a:ln w="9525">
            <a:solidFill>
              <a:srgbClr val="B9B8B0"/>
            </a:solidFill>
          </a:ln>
        </p:spPr>
        <p:txBody>
          <a:bodyPr/>
          <a:lstStyle/>
          <a:p>
            <a:endParaRPr lang="en-US"/>
          </a:p>
        </p:txBody>
      </p:sp>
      <p:sp>
        <p:nvSpPr>
          <p:cNvPr id="5" name="Replace image prompt">
            <a:extLst>
              <a:ext uri="{FF2B5EF4-FFF2-40B4-BE49-F238E27FC236}">
                <a16:creationId xmlns:a16="http://schemas.microsoft.com/office/drawing/2014/main" id="{9C066245-88A9-4BDD-BB45-6A3FE7CE7BE3}"/>
              </a:ext>
            </a:extLst>
          </p:cNvPr>
          <p:cNvSpPr>
            <a:spLocks noGrp="1"/>
          </p:cNvSpPr>
          <p:nvPr/>
        </p:nvSpPr>
        <p:spPr>
          <a:xfrm>
            <a:off x="857250" y="3171825"/>
            <a:ext cx="4800600" cy="857250"/>
          </a:xfrm>
          <a:prstGeom prst="rect">
            <a:avLst/>
          </a:prstGeom>
          <a:noFill/>
          <a:ln w="0">
            <a:noFill/>
          </a:ln>
        </p:spPr>
        <p:txBody>
          <a:bodyPr lIns="0" tIns="0" rIns="0" bIns="0"/>
          <a:lstStyle>
            <a:defPPr>
              <a:defRPr sz="1800" b="0">
                <a:solidFill>
                  <a:srgbClr val="687782"/>
                </a:solidFill>
              </a:defRPr>
            </a:defPPr>
            <a:lvl1pPr>
              <a:defRPr sz="1800" b="0">
                <a:solidFill>
                  <a:srgbClr val="687782"/>
                </a:solidFill>
              </a:defRPr>
            </a:lvl1pPr>
            <a:lvl2pPr>
              <a:defRPr sz="1800" b="0">
                <a:solidFill>
                  <a:srgbClr val="687782"/>
                </a:solidFill>
              </a:defRPr>
            </a:lvl2pPr>
            <a:lvl3pPr>
              <a:defRPr sz="1800" b="0">
                <a:solidFill>
                  <a:srgbClr val="687782"/>
                </a:solidFill>
              </a:defRPr>
            </a:lvl3pPr>
            <a:lvl4pPr>
              <a:defRPr sz="1800" b="0">
                <a:solidFill>
                  <a:srgbClr val="687782"/>
                </a:solidFill>
              </a:defRPr>
            </a:lvl4pPr>
            <a:lvl5pPr>
              <a:defRPr sz="1800" b="0">
                <a:solidFill>
                  <a:srgbClr val="687782"/>
                </a:solidFill>
              </a:defRPr>
            </a:lvl5pPr>
            <a:lvl6pPr>
              <a:defRPr sz="1800" b="0">
                <a:solidFill>
                  <a:srgbClr val="687782"/>
                </a:solidFill>
              </a:defRPr>
            </a:lvl6pPr>
            <a:lvl7pPr>
              <a:defRPr sz="1800" b="0">
                <a:solidFill>
                  <a:srgbClr val="687782"/>
                </a:solidFill>
              </a:defRPr>
            </a:lvl7pPr>
            <a:lvl8pPr>
              <a:defRPr sz="1800" b="0">
                <a:solidFill>
                  <a:srgbClr val="687782"/>
                </a:solidFill>
              </a:defRPr>
            </a:lvl8pPr>
            <a:lvl9pPr>
              <a:defRPr sz="1800" b="0">
                <a:solidFill>
                  <a:srgbClr val="687782"/>
                </a:solidFill>
              </a:defRPr>
            </a:lvl9pPr>
          </a:lstStyle>
          <a:p>
            <a:pPr>
              <a:defRPr sz="1800" b="0">
                <a:solidFill>
                  <a:srgbClr val="687782"/>
                </a:solidFill>
              </a:defRPr>
            </a:pPr>
            <a:r>
              <a:rPr sz="1800" b="0">
                <a:solidFill>
                  <a:srgbClr val="687782"/>
                </a:solidFill>
              </a:rPr>
              <a:t>[Output: </a:t>
            </a:r>
            <a:r>
              <a:rPr lang="en-US" sz="1800" b="0">
                <a:solidFill>
                  <a:srgbClr val="687782"/>
                </a:solidFill>
              </a:rPr>
              <a:t>Analysis</a:t>
            </a:r>
            <a:r>
              <a:rPr sz="1800" b="0">
                <a:solidFill>
                  <a:srgbClr val="687782"/>
                </a:solidFill>
              </a:rPr>
              <a:t>]</a:t>
            </a:r>
          </a:p>
        </p:txBody>
      </p:sp>
      <p:pic>
        <p:nvPicPr>
          <p:cNvPr id="8" name="Picture 7" descr="Structural and architectural studio views">
            <a:extLst>
              <a:ext uri="{FF2B5EF4-FFF2-40B4-BE49-F238E27FC236}">
                <a16:creationId xmlns:a16="http://schemas.microsoft.com/office/drawing/2014/main" id="{AC217811-FC79-05D4-BF1F-B285F90872DB}"/>
              </a:ext>
            </a:extLst>
          </p:cNvPr>
          <p:cNvPicPr>
            <a:picLocks noChangeAspect="1"/>
          </p:cNvPicPr>
          <p:nvPr/>
        </p:nvPicPr>
        <p:blipFill>
          <a:blip r:embed="rId3"/>
          <a:stretch>
            <a:fillRect/>
          </a:stretch>
        </p:blipFill>
        <p:spPr>
          <a:xfrm>
            <a:off x="447809" y="1273342"/>
            <a:ext cx="5932304" cy="4993106"/>
          </a:xfrm>
          <a:prstGeom prst="rect">
            <a:avLst/>
          </a:prstGeom>
        </p:spPr>
      </p:pic>
      <p:pic>
        <p:nvPicPr>
          <p:cNvPr id="9" name="Picture 8">
            <a:extLst>
              <a:ext uri="{FF2B5EF4-FFF2-40B4-BE49-F238E27FC236}">
                <a16:creationId xmlns:a16="http://schemas.microsoft.com/office/drawing/2014/main" id="{C7D273EA-5128-DD93-912E-11D97F6FCD3C}"/>
              </a:ext>
            </a:extLst>
          </p:cNvPr>
          <p:cNvPicPr>
            <a:picLocks noChangeAspect="1"/>
          </p:cNvPicPr>
          <p:nvPr/>
        </p:nvPicPr>
        <p:blipFill>
          <a:blip r:embed="rId4"/>
          <a:stretch>
            <a:fillRect/>
          </a:stretch>
        </p:blipFill>
        <p:spPr>
          <a:xfrm>
            <a:off x="6226091" y="1866148"/>
            <a:ext cx="5625265" cy="3466599"/>
          </a:xfrm>
          <a:prstGeom prst="rect">
            <a:avLst/>
          </a:prstGeom>
        </p:spPr>
      </p:pic>
    </p:spTree>
    <p:extLst>
      <p:ext uri="{BB962C8B-B14F-4D97-AF65-F5344CB8AC3E}">
        <p14:creationId xmlns:p14="http://schemas.microsoft.com/office/powerpoint/2010/main" val="12680559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B2A"/>
        </a:solidFill>
        <a:effectLst/>
      </p:bgPr>
    </p:bg>
    <p:spTree>
      <p:nvGrpSpPr>
        <p:cNvPr id="1" name="">
          <a:extLst>
            <a:ext uri="{FF2B5EF4-FFF2-40B4-BE49-F238E27FC236}">
              <a16:creationId xmlns:a16="http://schemas.microsoft.com/office/drawing/2014/main" id="{2F49FC3C-8F24-8B5D-57C9-413390A42AA7}"/>
            </a:ext>
          </a:extLst>
        </p:cNvPr>
        <p:cNvGrpSpPr/>
        <p:nvPr/>
      </p:nvGrpSpPr>
      <p:grpSpPr>
        <a:xfrm>
          <a:off x="0" y="0"/>
          <a:ext cx="0" cy="0"/>
          <a:chOff x="0" y="0"/>
          <a:chExt cx="0" cy="0"/>
        </a:xfrm>
      </p:grpSpPr>
      <p:sp>
        <p:nvSpPr>
          <p:cNvPr id="2" name="Title">
            <a:extLst>
              <a:ext uri="{FF2B5EF4-FFF2-40B4-BE49-F238E27FC236}">
                <a16:creationId xmlns:a16="http://schemas.microsoft.com/office/drawing/2014/main" id="{A64AC0AF-594E-7334-F326-23035F91C7CC}"/>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FFFFFF"/>
                </a:solidFill>
              </a:defRPr>
            </a:defPPr>
            <a:lvl1pPr>
              <a:defRPr sz="3600" b="1">
                <a:solidFill>
                  <a:srgbClr val="FFFFFF"/>
                </a:solidFill>
              </a:defRPr>
            </a:lvl1pPr>
            <a:lvl2pPr>
              <a:defRPr sz="3600" b="1">
                <a:solidFill>
                  <a:srgbClr val="FFFFFF"/>
                </a:solidFill>
              </a:defRPr>
            </a:lvl2pPr>
            <a:lvl3pPr>
              <a:defRPr sz="3600" b="1">
                <a:solidFill>
                  <a:srgbClr val="FFFFFF"/>
                </a:solidFill>
              </a:defRPr>
            </a:lvl3pPr>
            <a:lvl4pPr>
              <a:defRPr sz="3600" b="1">
                <a:solidFill>
                  <a:srgbClr val="FFFFFF"/>
                </a:solidFill>
              </a:defRPr>
            </a:lvl4pPr>
            <a:lvl5pPr>
              <a:defRPr sz="3600" b="1">
                <a:solidFill>
                  <a:srgbClr val="FFFFFF"/>
                </a:solidFill>
              </a:defRPr>
            </a:lvl5pPr>
            <a:lvl6pPr>
              <a:defRPr sz="3600" b="1">
                <a:solidFill>
                  <a:srgbClr val="FFFFFF"/>
                </a:solidFill>
              </a:defRPr>
            </a:lvl6pPr>
            <a:lvl7pPr>
              <a:defRPr sz="3600" b="1">
                <a:solidFill>
                  <a:srgbClr val="FFFFFF"/>
                </a:solidFill>
              </a:defRPr>
            </a:lvl7pPr>
            <a:lvl8pPr>
              <a:defRPr sz="3600" b="1">
                <a:solidFill>
                  <a:srgbClr val="FFFFFF"/>
                </a:solidFill>
              </a:defRPr>
            </a:lvl8pPr>
            <a:lvl9pPr>
              <a:defRPr sz="3600" b="1">
                <a:solidFill>
                  <a:srgbClr val="FFFFFF"/>
                </a:solidFill>
              </a:defRPr>
            </a:lvl9pPr>
          </a:lstStyle>
          <a:p>
            <a:pPr>
              <a:defRPr sz="3600" b="1">
                <a:solidFill>
                  <a:srgbClr val="FFFFFF"/>
                </a:solidFill>
              </a:defRPr>
            </a:pPr>
            <a:r>
              <a:rPr lang="en-US"/>
              <a:t>Future Steps/Improvements</a:t>
            </a:r>
            <a:endParaRPr sz="3600" b="1">
              <a:solidFill>
                <a:srgbClr val="FFFFFF"/>
              </a:solidFill>
            </a:endParaRPr>
          </a:p>
        </p:txBody>
      </p:sp>
      <p:sp>
        <p:nvSpPr>
          <p:cNvPr id="3" name="Page">
            <a:extLst>
              <a:ext uri="{FF2B5EF4-FFF2-40B4-BE49-F238E27FC236}">
                <a16:creationId xmlns:a16="http://schemas.microsoft.com/office/drawing/2014/main" id="{0DB62649-06BE-3791-5678-6FB0B9F717F9}"/>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91A9B9"/>
                </a:solidFill>
              </a:defRPr>
            </a:defPPr>
            <a:lvl1pPr>
              <a:defRPr sz="1275" b="0">
                <a:solidFill>
                  <a:srgbClr val="91A9B9"/>
                </a:solidFill>
              </a:defRPr>
            </a:lvl1pPr>
            <a:lvl2pPr>
              <a:defRPr sz="1275" b="0">
                <a:solidFill>
                  <a:srgbClr val="91A9B9"/>
                </a:solidFill>
              </a:defRPr>
            </a:lvl2pPr>
            <a:lvl3pPr>
              <a:defRPr sz="1275" b="0">
                <a:solidFill>
                  <a:srgbClr val="91A9B9"/>
                </a:solidFill>
              </a:defRPr>
            </a:lvl3pPr>
            <a:lvl4pPr>
              <a:defRPr sz="1275" b="0">
                <a:solidFill>
                  <a:srgbClr val="91A9B9"/>
                </a:solidFill>
              </a:defRPr>
            </a:lvl4pPr>
            <a:lvl5pPr>
              <a:defRPr sz="1275" b="0">
                <a:solidFill>
                  <a:srgbClr val="91A9B9"/>
                </a:solidFill>
              </a:defRPr>
            </a:lvl5pPr>
            <a:lvl6pPr>
              <a:defRPr sz="1275" b="0">
                <a:solidFill>
                  <a:srgbClr val="91A9B9"/>
                </a:solidFill>
              </a:defRPr>
            </a:lvl6pPr>
            <a:lvl7pPr>
              <a:defRPr sz="1275" b="0">
                <a:solidFill>
                  <a:srgbClr val="91A9B9"/>
                </a:solidFill>
              </a:defRPr>
            </a:lvl7pPr>
            <a:lvl8pPr>
              <a:defRPr sz="1275" b="0">
                <a:solidFill>
                  <a:srgbClr val="91A9B9"/>
                </a:solidFill>
              </a:defRPr>
            </a:lvl8pPr>
            <a:lvl9pPr>
              <a:defRPr sz="1275" b="0">
                <a:solidFill>
                  <a:srgbClr val="91A9B9"/>
                </a:solidFill>
              </a:defRPr>
            </a:lvl9pPr>
          </a:lstStyle>
          <a:p>
            <a:pPr>
              <a:defRPr sz="1275" b="0">
                <a:solidFill>
                  <a:srgbClr val="91A9B9"/>
                </a:solidFill>
              </a:defRPr>
            </a:pPr>
            <a:r>
              <a:rPr lang="en-US"/>
              <a:t>10</a:t>
            </a:r>
            <a:endParaRPr sz="1275" b="0">
              <a:solidFill>
                <a:srgbClr val="91A9B9"/>
              </a:solidFill>
            </a:endParaRPr>
          </a:p>
        </p:txBody>
      </p:sp>
      <p:sp>
        <p:nvSpPr>
          <p:cNvPr id="4" name="Step">
            <a:extLst>
              <a:ext uri="{FF2B5EF4-FFF2-40B4-BE49-F238E27FC236}">
                <a16:creationId xmlns:a16="http://schemas.microsoft.com/office/drawing/2014/main" id="{26F90C2D-63F2-2296-6A15-0C7FFD23B972}"/>
              </a:ext>
            </a:extLst>
          </p:cNvPr>
          <p:cNvSpPr>
            <a:spLocks noGrp="1"/>
          </p:cNvSpPr>
          <p:nvPr/>
        </p:nvSpPr>
        <p:spPr>
          <a:xfrm>
            <a:off x="609600" y="1809750"/>
            <a:ext cx="609600" cy="476250"/>
          </a:xfrm>
          <a:prstGeom prst="rect">
            <a:avLst/>
          </a:prstGeom>
          <a:noFill/>
          <a:ln w="0">
            <a:noFill/>
          </a:ln>
        </p:spPr>
        <p:txBody>
          <a:bodyPr lIns="0" tIns="0" rIns="0" bIns="0"/>
          <a:lstStyle>
            <a:defPPr>
              <a:defRPr sz="2700" b="1">
                <a:solidFill>
                  <a:srgbClr val="EB772D"/>
                </a:solidFill>
              </a:defRPr>
            </a:defPPr>
            <a:lvl1pPr>
              <a:defRPr sz="2700" b="1">
                <a:solidFill>
                  <a:srgbClr val="EB772D"/>
                </a:solidFill>
              </a:defRPr>
            </a:lvl1pPr>
            <a:lvl2pPr>
              <a:defRPr sz="2700" b="1">
                <a:solidFill>
                  <a:srgbClr val="EB772D"/>
                </a:solidFill>
              </a:defRPr>
            </a:lvl2pPr>
            <a:lvl3pPr>
              <a:defRPr sz="2700" b="1">
                <a:solidFill>
                  <a:srgbClr val="EB772D"/>
                </a:solidFill>
              </a:defRPr>
            </a:lvl3pPr>
            <a:lvl4pPr>
              <a:defRPr sz="2700" b="1">
                <a:solidFill>
                  <a:srgbClr val="EB772D"/>
                </a:solidFill>
              </a:defRPr>
            </a:lvl4pPr>
            <a:lvl5pPr>
              <a:defRPr sz="2700" b="1">
                <a:solidFill>
                  <a:srgbClr val="EB772D"/>
                </a:solidFill>
              </a:defRPr>
            </a:lvl5pPr>
            <a:lvl6pPr>
              <a:defRPr sz="2700" b="1">
                <a:solidFill>
                  <a:srgbClr val="EB772D"/>
                </a:solidFill>
              </a:defRPr>
            </a:lvl6pPr>
            <a:lvl7pPr>
              <a:defRPr sz="2700" b="1">
                <a:solidFill>
                  <a:srgbClr val="EB772D"/>
                </a:solidFill>
              </a:defRPr>
            </a:lvl7pPr>
            <a:lvl8pPr>
              <a:defRPr sz="2700" b="1">
                <a:solidFill>
                  <a:srgbClr val="EB772D"/>
                </a:solidFill>
              </a:defRPr>
            </a:lvl8pPr>
            <a:lvl9pPr>
              <a:defRPr sz="2700" b="1">
                <a:solidFill>
                  <a:srgbClr val="EB772D"/>
                </a:solidFill>
              </a:defRPr>
            </a:lvl9pPr>
          </a:lstStyle>
          <a:p>
            <a:pPr>
              <a:defRPr sz="2700" b="1">
                <a:solidFill>
                  <a:srgbClr val="EB772D"/>
                </a:solidFill>
              </a:defRPr>
            </a:pPr>
            <a:r>
              <a:rPr sz="2700" b="1">
                <a:solidFill>
                  <a:srgbClr val="EB772D"/>
                </a:solidFill>
              </a:rPr>
              <a:t>01</a:t>
            </a:r>
          </a:p>
        </p:txBody>
      </p:sp>
      <p:sp>
        <p:nvSpPr>
          <p:cNvPr id="5" name="Heading">
            <a:extLst>
              <a:ext uri="{FF2B5EF4-FFF2-40B4-BE49-F238E27FC236}">
                <a16:creationId xmlns:a16="http://schemas.microsoft.com/office/drawing/2014/main" id="{5A889A99-F36B-4B05-D7F7-A8247C717DBE}"/>
              </a:ext>
            </a:extLst>
          </p:cNvPr>
          <p:cNvSpPr>
            <a:spLocks noGrp="1"/>
          </p:cNvSpPr>
          <p:nvPr/>
        </p:nvSpPr>
        <p:spPr>
          <a:xfrm>
            <a:off x="1428750" y="1809750"/>
            <a:ext cx="7926790" cy="409575"/>
          </a:xfrm>
          <a:prstGeom prst="rect">
            <a:avLst/>
          </a:prstGeom>
          <a:noFill/>
          <a:ln w="0">
            <a:noFill/>
          </a:ln>
        </p:spPr>
        <p:txBody>
          <a:bodyPr lIns="0" tIns="0" rIns="0" bIns="0"/>
          <a:lstStyle>
            <a:defPPr>
              <a:defRPr sz="2325" b="1">
                <a:solidFill>
                  <a:srgbClr val="FFFFFF"/>
                </a:solidFill>
              </a:defRPr>
            </a:defPPr>
            <a:lvl1pPr>
              <a:defRPr sz="2325" b="1">
                <a:solidFill>
                  <a:srgbClr val="FFFFFF"/>
                </a:solidFill>
              </a:defRPr>
            </a:lvl1pPr>
            <a:lvl2pPr>
              <a:defRPr sz="2325" b="1">
                <a:solidFill>
                  <a:srgbClr val="FFFFFF"/>
                </a:solidFill>
              </a:defRPr>
            </a:lvl2pPr>
            <a:lvl3pPr>
              <a:defRPr sz="2325" b="1">
                <a:solidFill>
                  <a:srgbClr val="FFFFFF"/>
                </a:solidFill>
              </a:defRPr>
            </a:lvl3pPr>
            <a:lvl4pPr>
              <a:defRPr sz="2325" b="1">
                <a:solidFill>
                  <a:srgbClr val="FFFFFF"/>
                </a:solidFill>
              </a:defRPr>
            </a:lvl4pPr>
            <a:lvl5pPr>
              <a:defRPr sz="2325" b="1">
                <a:solidFill>
                  <a:srgbClr val="FFFFFF"/>
                </a:solidFill>
              </a:defRPr>
            </a:lvl5pPr>
            <a:lvl6pPr>
              <a:defRPr sz="2325" b="1">
                <a:solidFill>
                  <a:srgbClr val="FFFFFF"/>
                </a:solidFill>
              </a:defRPr>
            </a:lvl6pPr>
            <a:lvl7pPr>
              <a:defRPr sz="2325" b="1">
                <a:solidFill>
                  <a:srgbClr val="FFFFFF"/>
                </a:solidFill>
              </a:defRPr>
            </a:lvl7pPr>
            <a:lvl8pPr>
              <a:defRPr sz="2325" b="1">
                <a:solidFill>
                  <a:srgbClr val="FFFFFF"/>
                </a:solidFill>
              </a:defRPr>
            </a:lvl8pPr>
            <a:lvl9pPr>
              <a:defRPr sz="2325" b="1">
                <a:solidFill>
                  <a:srgbClr val="FFFFFF"/>
                </a:solidFill>
              </a:defRPr>
            </a:lvl9pPr>
          </a:lstStyle>
          <a:p>
            <a:pPr>
              <a:defRPr sz="2325" b="1">
                <a:solidFill>
                  <a:srgbClr val="FFFFFF"/>
                </a:solidFill>
              </a:defRPr>
            </a:pPr>
            <a:r>
              <a:rPr lang="en-US" sz="2300"/>
              <a:t>Building non-AI verification routines to verify robustness of generated output</a:t>
            </a:r>
            <a:endParaRPr sz="2325" b="1">
              <a:solidFill>
                <a:srgbClr val="FFFFFF"/>
              </a:solidFill>
            </a:endParaRPr>
          </a:p>
        </p:txBody>
      </p:sp>
      <p:sp>
        <p:nvSpPr>
          <p:cNvPr id="6" name="Detail">
            <a:extLst>
              <a:ext uri="{FF2B5EF4-FFF2-40B4-BE49-F238E27FC236}">
                <a16:creationId xmlns:a16="http://schemas.microsoft.com/office/drawing/2014/main" id="{C4D9FF94-4EC5-A567-D2A0-41AD6236D499}"/>
              </a:ext>
            </a:extLst>
          </p:cNvPr>
          <p:cNvSpPr>
            <a:spLocks noGrp="1"/>
          </p:cNvSpPr>
          <p:nvPr/>
        </p:nvSpPr>
        <p:spPr>
          <a:xfrm>
            <a:off x="1428750" y="2295525"/>
            <a:ext cx="4362450" cy="685800"/>
          </a:xfrm>
          <a:prstGeom prst="rect">
            <a:avLst/>
          </a:prstGeom>
          <a:noFill/>
          <a:ln w="0">
            <a:noFill/>
          </a:ln>
        </p:spPr>
        <p:txBody>
          <a:bodyPr lIns="0" tIns="0" rIns="0" bIns="0"/>
          <a:lstStyle>
            <a:defPPr>
              <a:defRPr sz="1800" b="0">
                <a:solidFill>
                  <a:srgbClr val="B0BFCA"/>
                </a:solidFill>
              </a:defRPr>
            </a:defPPr>
            <a:lvl1pPr>
              <a:defRPr sz="1800" b="0">
                <a:solidFill>
                  <a:srgbClr val="B0BFCA"/>
                </a:solidFill>
              </a:defRPr>
            </a:lvl1pPr>
            <a:lvl2pPr>
              <a:defRPr sz="1800" b="0">
                <a:solidFill>
                  <a:srgbClr val="B0BFCA"/>
                </a:solidFill>
              </a:defRPr>
            </a:lvl2pPr>
            <a:lvl3pPr>
              <a:defRPr sz="1800" b="0">
                <a:solidFill>
                  <a:srgbClr val="B0BFCA"/>
                </a:solidFill>
              </a:defRPr>
            </a:lvl3pPr>
            <a:lvl4pPr>
              <a:defRPr sz="1800" b="0">
                <a:solidFill>
                  <a:srgbClr val="B0BFCA"/>
                </a:solidFill>
              </a:defRPr>
            </a:lvl4pPr>
            <a:lvl5pPr>
              <a:defRPr sz="1800" b="0">
                <a:solidFill>
                  <a:srgbClr val="B0BFCA"/>
                </a:solidFill>
              </a:defRPr>
            </a:lvl5pPr>
            <a:lvl6pPr>
              <a:defRPr sz="1800" b="0">
                <a:solidFill>
                  <a:srgbClr val="B0BFCA"/>
                </a:solidFill>
              </a:defRPr>
            </a:lvl6pPr>
            <a:lvl7pPr>
              <a:defRPr sz="1800" b="0">
                <a:solidFill>
                  <a:srgbClr val="B0BFCA"/>
                </a:solidFill>
              </a:defRPr>
            </a:lvl7pPr>
            <a:lvl8pPr>
              <a:defRPr sz="1800" b="0">
                <a:solidFill>
                  <a:srgbClr val="B0BFCA"/>
                </a:solidFill>
              </a:defRPr>
            </a:lvl8pPr>
            <a:lvl9pPr>
              <a:defRPr sz="1800" b="0">
                <a:solidFill>
                  <a:srgbClr val="B0BFCA"/>
                </a:solidFill>
              </a:defRPr>
            </a:lvl9pPr>
          </a:lstStyle>
          <a:p>
            <a:pPr>
              <a:defRPr sz="1800" b="0">
                <a:solidFill>
                  <a:srgbClr val="B0BFCA"/>
                </a:solidFill>
              </a:defRPr>
            </a:pPr>
            <a:endParaRPr sz="1800" b="0">
              <a:solidFill>
                <a:srgbClr val="B0BFCA"/>
              </a:solidFill>
            </a:endParaRPr>
          </a:p>
        </p:txBody>
      </p:sp>
      <p:sp>
        <p:nvSpPr>
          <p:cNvPr id="7" name="Step">
            <a:extLst>
              <a:ext uri="{FF2B5EF4-FFF2-40B4-BE49-F238E27FC236}">
                <a16:creationId xmlns:a16="http://schemas.microsoft.com/office/drawing/2014/main" id="{E3E95636-430E-096B-66B6-BD66FF598DF1}"/>
              </a:ext>
            </a:extLst>
          </p:cNvPr>
          <p:cNvSpPr>
            <a:spLocks noGrp="1"/>
          </p:cNvSpPr>
          <p:nvPr/>
        </p:nvSpPr>
        <p:spPr>
          <a:xfrm>
            <a:off x="609600" y="3190875"/>
            <a:ext cx="609600" cy="476250"/>
          </a:xfrm>
          <a:prstGeom prst="rect">
            <a:avLst/>
          </a:prstGeom>
          <a:noFill/>
          <a:ln w="0">
            <a:noFill/>
          </a:ln>
        </p:spPr>
        <p:txBody>
          <a:bodyPr lIns="0" tIns="0" rIns="0" bIns="0"/>
          <a:lstStyle>
            <a:defPPr>
              <a:defRPr sz="2700" b="1">
                <a:solidFill>
                  <a:srgbClr val="EB772D"/>
                </a:solidFill>
              </a:defRPr>
            </a:defPPr>
            <a:lvl1pPr>
              <a:defRPr sz="2700" b="1">
                <a:solidFill>
                  <a:srgbClr val="EB772D"/>
                </a:solidFill>
              </a:defRPr>
            </a:lvl1pPr>
            <a:lvl2pPr>
              <a:defRPr sz="2700" b="1">
                <a:solidFill>
                  <a:srgbClr val="EB772D"/>
                </a:solidFill>
              </a:defRPr>
            </a:lvl2pPr>
            <a:lvl3pPr>
              <a:defRPr sz="2700" b="1">
                <a:solidFill>
                  <a:srgbClr val="EB772D"/>
                </a:solidFill>
              </a:defRPr>
            </a:lvl3pPr>
            <a:lvl4pPr>
              <a:defRPr sz="2700" b="1">
                <a:solidFill>
                  <a:srgbClr val="EB772D"/>
                </a:solidFill>
              </a:defRPr>
            </a:lvl4pPr>
            <a:lvl5pPr>
              <a:defRPr sz="2700" b="1">
                <a:solidFill>
                  <a:srgbClr val="EB772D"/>
                </a:solidFill>
              </a:defRPr>
            </a:lvl5pPr>
            <a:lvl6pPr>
              <a:defRPr sz="2700" b="1">
                <a:solidFill>
                  <a:srgbClr val="EB772D"/>
                </a:solidFill>
              </a:defRPr>
            </a:lvl6pPr>
            <a:lvl7pPr>
              <a:defRPr sz="2700" b="1">
                <a:solidFill>
                  <a:srgbClr val="EB772D"/>
                </a:solidFill>
              </a:defRPr>
            </a:lvl7pPr>
            <a:lvl8pPr>
              <a:defRPr sz="2700" b="1">
                <a:solidFill>
                  <a:srgbClr val="EB772D"/>
                </a:solidFill>
              </a:defRPr>
            </a:lvl8pPr>
            <a:lvl9pPr>
              <a:defRPr sz="2700" b="1">
                <a:solidFill>
                  <a:srgbClr val="EB772D"/>
                </a:solidFill>
              </a:defRPr>
            </a:lvl9pPr>
          </a:lstStyle>
          <a:p>
            <a:pPr>
              <a:defRPr sz="2700" b="1">
                <a:solidFill>
                  <a:srgbClr val="EB772D"/>
                </a:solidFill>
              </a:defRPr>
            </a:pPr>
            <a:r>
              <a:rPr sz="2700" b="1">
                <a:solidFill>
                  <a:srgbClr val="EB772D"/>
                </a:solidFill>
              </a:rPr>
              <a:t>02</a:t>
            </a:r>
          </a:p>
        </p:txBody>
      </p:sp>
      <p:sp>
        <p:nvSpPr>
          <p:cNvPr id="8" name="Heading">
            <a:extLst>
              <a:ext uri="{FF2B5EF4-FFF2-40B4-BE49-F238E27FC236}">
                <a16:creationId xmlns:a16="http://schemas.microsoft.com/office/drawing/2014/main" id="{8D3E9B97-A396-D351-80A8-E736A95F2B50}"/>
              </a:ext>
            </a:extLst>
          </p:cNvPr>
          <p:cNvSpPr>
            <a:spLocks noGrp="1"/>
          </p:cNvSpPr>
          <p:nvPr/>
        </p:nvSpPr>
        <p:spPr>
          <a:xfrm>
            <a:off x="1428750" y="3190875"/>
            <a:ext cx="8281632" cy="409575"/>
          </a:xfrm>
          <a:prstGeom prst="rect">
            <a:avLst/>
          </a:prstGeom>
          <a:noFill/>
          <a:ln w="0">
            <a:noFill/>
          </a:ln>
        </p:spPr>
        <p:txBody>
          <a:bodyPr lIns="0" tIns="0" rIns="0" bIns="0"/>
          <a:lstStyle>
            <a:defPPr>
              <a:defRPr sz="2325" b="1">
                <a:solidFill>
                  <a:srgbClr val="FFFFFF"/>
                </a:solidFill>
              </a:defRPr>
            </a:defPPr>
            <a:lvl1pPr>
              <a:defRPr sz="2325" b="1">
                <a:solidFill>
                  <a:srgbClr val="FFFFFF"/>
                </a:solidFill>
              </a:defRPr>
            </a:lvl1pPr>
            <a:lvl2pPr>
              <a:defRPr sz="2325" b="1">
                <a:solidFill>
                  <a:srgbClr val="FFFFFF"/>
                </a:solidFill>
              </a:defRPr>
            </a:lvl2pPr>
            <a:lvl3pPr>
              <a:defRPr sz="2325" b="1">
                <a:solidFill>
                  <a:srgbClr val="FFFFFF"/>
                </a:solidFill>
              </a:defRPr>
            </a:lvl3pPr>
            <a:lvl4pPr>
              <a:defRPr sz="2325" b="1">
                <a:solidFill>
                  <a:srgbClr val="FFFFFF"/>
                </a:solidFill>
              </a:defRPr>
            </a:lvl4pPr>
            <a:lvl5pPr>
              <a:defRPr sz="2325" b="1">
                <a:solidFill>
                  <a:srgbClr val="FFFFFF"/>
                </a:solidFill>
              </a:defRPr>
            </a:lvl5pPr>
            <a:lvl6pPr>
              <a:defRPr sz="2325" b="1">
                <a:solidFill>
                  <a:srgbClr val="FFFFFF"/>
                </a:solidFill>
              </a:defRPr>
            </a:lvl6pPr>
            <a:lvl7pPr>
              <a:defRPr sz="2325" b="1">
                <a:solidFill>
                  <a:srgbClr val="FFFFFF"/>
                </a:solidFill>
              </a:defRPr>
            </a:lvl7pPr>
            <a:lvl8pPr>
              <a:defRPr sz="2325" b="1">
                <a:solidFill>
                  <a:srgbClr val="FFFFFF"/>
                </a:solidFill>
              </a:defRPr>
            </a:lvl8pPr>
            <a:lvl9pPr>
              <a:defRPr sz="2325" b="1">
                <a:solidFill>
                  <a:srgbClr val="FFFFFF"/>
                </a:solidFill>
              </a:defRPr>
            </a:lvl9pPr>
          </a:lstStyle>
          <a:p>
            <a:pPr>
              <a:defRPr sz="2325" b="1">
                <a:solidFill>
                  <a:srgbClr val="FFFFFF"/>
                </a:solidFill>
              </a:defRPr>
            </a:pPr>
            <a:r>
              <a:rPr lang="en-US"/>
              <a:t>Integrate with analysis software such as ETABS and SAP.</a:t>
            </a:r>
          </a:p>
        </p:txBody>
      </p:sp>
      <p:sp>
        <p:nvSpPr>
          <p:cNvPr id="9" name="Detail">
            <a:extLst>
              <a:ext uri="{FF2B5EF4-FFF2-40B4-BE49-F238E27FC236}">
                <a16:creationId xmlns:a16="http://schemas.microsoft.com/office/drawing/2014/main" id="{CE2D6518-F550-0E0A-72F1-A8A1AA312899}"/>
              </a:ext>
            </a:extLst>
          </p:cNvPr>
          <p:cNvSpPr>
            <a:spLocks noGrp="1"/>
          </p:cNvSpPr>
          <p:nvPr/>
        </p:nvSpPr>
        <p:spPr>
          <a:xfrm>
            <a:off x="1428750" y="3676650"/>
            <a:ext cx="4362450" cy="685800"/>
          </a:xfrm>
          <a:prstGeom prst="rect">
            <a:avLst/>
          </a:prstGeom>
          <a:noFill/>
          <a:ln w="0">
            <a:noFill/>
          </a:ln>
        </p:spPr>
        <p:txBody>
          <a:bodyPr lIns="0" tIns="0" rIns="0" bIns="0"/>
          <a:lstStyle>
            <a:defPPr>
              <a:defRPr sz="1800" b="0">
                <a:solidFill>
                  <a:srgbClr val="B0BFCA"/>
                </a:solidFill>
              </a:defRPr>
            </a:defPPr>
            <a:lvl1pPr>
              <a:defRPr sz="1800" b="0">
                <a:solidFill>
                  <a:srgbClr val="B0BFCA"/>
                </a:solidFill>
              </a:defRPr>
            </a:lvl1pPr>
            <a:lvl2pPr>
              <a:defRPr sz="1800" b="0">
                <a:solidFill>
                  <a:srgbClr val="B0BFCA"/>
                </a:solidFill>
              </a:defRPr>
            </a:lvl2pPr>
            <a:lvl3pPr>
              <a:defRPr sz="1800" b="0">
                <a:solidFill>
                  <a:srgbClr val="B0BFCA"/>
                </a:solidFill>
              </a:defRPr>
            </a:lvl3pPr>
            <a:lvl4pPr>
              <a:defRPr sz="1800" b="0">
                <a:solidFill>
                  <a:srgbClr val="B0BFCA"/>
                </a:solidFill>
              </a:defRPr>
            </a:lvl4pPr>
            <a:lvl5pPr>
              <a:defRPr sz="1800" b="0">
                <a:solidFill>
                  <a:srgbClr val="B0BFCA"/>
                </a:solidFill>
              </a:defRPr>
            </a:lvl5pPr>
            <a:lvl6pPr>
              <a:defRPr sz="1800" b="0">
                <a:solidFill>
                  <a:srgbClr val="B0BFCA"/>
                </a:solidFill>
              </a:defRPr>
            </a:lvl6pPr>
            <a:lvl7pPr>
              <a:defRPr sz="1800" b="0">
                <a:solidFill>
                  <a:srgbClr val="B0BFCA"/>
                </a:solidFill>
              </a:defRPr>
            </a:lvl7pPr>
            <a:lvl8pPr>
              <a:defRPr sz="1800" b="0">
                <a:solidFill>
                  <a:srgbClr val="B0BFCA"/>
                </a:solidFill>
              </a:defRPr>
            </a:lvl8pPr>
            <a:lvl9pPr>
              <a:defRPr sz="1800" b="0">
                <a:solidFill>
                  <a:srgbClr val="B0BFCA"/>
                </a:solidFill>
              </a:defRPr>
            </a:lvl9pPr>
          </a:lstStyle>
          <a:p>
            <a:pPr>
              <a:defRPr sz="1800" b="0">
                <a:solidFill>
                  <a:srgbClr val="B0BFCA"/>
                </a:solidFill>
              </a:defRPr>
            </a:pPr>
            <a:endParaRPr sz="1800" b="0">
              <a:solidFill>
                <a:srgbClr val="B0BFCA"/>
              </a:solidFill>
            </a:endParaRPr>
          </a:p>
        </p:txBody>
      </p:sp>
      <p:sp>
        <p:nvSpPr>
          <p:cNvPr id="10" name="Step">
            <a:extLst>
              <a:ext uri="{FF2B5EF4-FFF2-40B4-BE49-F238E27FC236}">
                <a16:creationId xmlns:a16="http://schemas.microsoft.com/office/drawing/2014/main" id="{1A7A4BC6-5BB6-5C54-9714-3472502B6889}"/>
              </a:ext>
            </a:extLst>
          </p:cNvPr>
          <p:cNvSpPr>
            <a:spLocks noGrp="1"/>
          </p:cNvSpPr>
          <p:nvPr/>
        </p:nvSpPr>
        <p:spPr>
          <a:xfrm>
            <a:off x="609600" y="4572000"/>
            <a:ext cx="609600" cy="476250"/>
          </a:xfrm>
          <a:prstGeom prst="rect">
            <a:avLst/>
          </a:prstGeom>
          <a:noFill/>
          <a:ln w="0">
            <a:noFill/>
          </a:ln>
        </p:spPr>
        <p:txBody>
          <a:bodyPr lIns="0" tIns="0" rIns="0" bIns="0"/>
          <a:lstStyle>
            <a:defPPr>
              <a:defRPr sz="2700" b="1">
                <a:solidFill>
                  <a:srgbClr val="EB772D"/>
                </a:solidFill>
              </a:defRPr>
            </a:defPPr>
            <a:lvl1pPr>
              <a:defRPr sz="2700" b="1">
                <a:solidFill>
                  <a:srgbClr val="EB772D"/>
                </a:solidFill>
              </a:defRPr>
            </a:lvl1pPr>
            <a:lvl2pPr>
              <a:defRPr sz="2700" b="1">
                <a:solidFill>
                  <a:srgbClr val="EB772D"/>
                </a:solidFill>
              </a:defRPr>
            </a:lvl2pPr>
            <a:lvl3pPr>
              <a:defRPr sz="2700" b="1">
                <a:solidFill>
                  <a:srgbClr val="EB772D"/>
                </a:solidFill>
              </a:defRPr>
            </a:lvl3pPr>
            <a:lvl4pPr>
              <a:defRPr sz="2700" b="1">
                <a:solidFill>
                  <a:srgbClr val="EB772D"/>
                </a:solidFill>
              </a:defRPr>
            </a:lvl4pPr>
            <a:lvl5pPr>
              <a:defRPr sz="2700" b="1">
                <a:solidFill>
                  <a:srgbClr val="EB772D"/>
                </a:solidFill>
              </a:defRPr>
            </a:lvl5pPr>
            <a:lvl6pPr>
              <a:defRPr sz="2700" b="1">
                <a:solidFill>
                  <a:srgbClr val="EB772D"/>
                </a:solidFill>
              </a:defRPr>
            </a:lvl6pPr>
            <a:lvl7pPr>
              <a:defRPr sz="2700" b="1">
                <a:solidFill>
                  <a:srgbClr val="EB772D"/>
                </a:solidFill>
              </a:defRPr>
            </a:lvl7pPr>
            <a:lvl8pPr>
              <a:defRPr sz="2700" b="1">
                <a:solidFill>
                  <a:srgbClr val="EB772D"/>
                </a:solidFill>
              </a:defRPr>
            </a:lvl8pPr>
            <a:lvl9pPr>
              <a:defRPr sz="2700" b="1">
                <a:solidFill>
                  <a:srgbClr val="EB772D"/>
                </a:solidFill>
              </a:defRPr>
            </a:lvl9pPr>
          </a:lstStyle>
          <a:p>
            <a:pPr>
              <a:defRPr sz="2700" b="1">
                <a:solidFill>
                  <a:srgbClr val="EB772D"/>
                </a:solidFill>
              </a:defRPr>
            </a:pPr>
            <a:r>
              <a:rPr sz="2700" b="1">
                <a:solidFill>
                  <a:srgbClr val="EB772D"/>
                </a:solidFill>
              </a:rPr>
              <a:t>03</a:t>
            </a:r>
          </a:p>
        </p:txBody>
      </p:sp>
      <p:sp>
        <p:nvSpPr>
          <p:cNvPr id="11" name="Heading">
            <a:extLst>
              <a:ext uri="{FF2B5EF4-FFF2-40B4-BE49-F238E27FC236}">
                <a16:creationId xmlns:a16="http://schemas.microsoft.com/office/drawing/2014/main" id="{8BF3586C-4A2F-875D-FD58-D6A7C7416CDC}"/>
              </a:ext>
            </a:extLst>
          </p:cNvPr>
          <p:cNvSpPr>
            <a:spLocks noGrp="1"/>
          </p:cNvSpPr>
          <p:nvPr/>
        </p:nvSpPr>
        <p:spPr>
          <a:xfrm>
            <a:off x="1428750" y="4572000"/>
            <a:ext cx="9312038" cy="409575"/>
          </a:xfrm>
          <a:prstGeom prst="rect">
            <a:avLst/>
          </a:prstGeom>
          <a:noFill/>
          <a:ln w="0">
            <a:noFill/>
          </a:ln>
        </p:spPr>
        <p:txBody>
          <a:bodyPr lIns="0" tIns="0" rIns="0" bIns="0"/>
          <a:lstStyle>
            <a:defPPr>
              <a:defRPr sz="2325" b="1">
                <a:solidFill>
                  <a:srgbClr val="FFFFFF"/>
                </a:solidFill>
              </a:defRPr>
            </a:defPPr>
            <a:lvl1pPr>
              <a:defRPr sz="2325" b="1">
                <a:solidFill>
                  <a:srgbClr val="FFFFFF"/>
                </a:solidFill>
              </a:defRPr>
            </a:lvl1pPr>
            <a:lvl2pPr>
              <a:defRPr sz="2325" b="1">
                <a:solidFill>
                  <a:srgbClr val="FFFFFF"/>
                </a:solidFill>
              </a:defRPr>
            </a:lvl2pPr>
            <a:lvl3pPr>
              <a:defRPr sz="2325" b="1">
                <a:solidFill>
                  <a:srgbClr val="FFFFFF"/>
                </a:solidFill>
              </a:defRPr>
            </a:lvl3pPr>
            <a:lvl4pPr>
              <a:defRPr sz="2325" b="1">
                <a:solidFill>
                  <a:srgbClr val="FFFFFF"/>
                </a:solidFill>
              </a:defRPr>
            </a:lvl4pPr>
            <a:lvl5pPr>
              <a:defRPr sz="2325" b="1">
                <a:solidFill>
                  <a:srgbClr val="FFFFFF"/>
                </a:solidFill>
              </a:defRPr>
            </a:lvl5pPr>
            <a:lvl6pPr>
              <a:defRPr sz="2325" b="1">
                <a:solidFill>
                  <a:srgbClr val="FFFFFF"/>
                </a:solidFill>
              </a:defRPr>
            </a:lvl6pPr>
            <a:lvl7pPr>
              <a:defRPr sz="2325" b="1">
                <a:solidFill>
                  <a:srgbClr val="FFFFFF"/>
                </a:solidFill>
              </a:defRPr>
            </a:lvl7pPr>
            <a:lvl8pPr>
              <a:defRPr sz="2325" b="1">
                <a:solidFill>
                  <a:srgbClr val="FFFFFF"/>
                </a:solidFill>
              </a:defRPr>
            </a:lvl8pPr>
            <a:lvl9pPr>
              <a:defRPr sz="2325" b="1">
                <a:solidFill>
                  <a:srgbClr val="FFFFFF"/>
                </a:solidFill>
              </a:defRPr>
            </a:lvl9pPr>
          </a:lstStyle>
          <a:p>
            <a:pPr>
              <a:defRPr sz="2325" b="1">
                <a:solidFill>
                  <a:srgbClr val="FFFFFF"/>
                </a:solidFill>
              </a:defRPr>
            </a:pPr>
            <a:r>
              <a:rPr lang="en-US"/>
              <a:t>Export elements to visualization tools such as Blender for communication with architects.</a:t>
            </a:r>
          </a:p>
        </p:txBody>
      </p:sp>
      <p:sp>
        <p:nvSpPr>
          <p:cNvPr id="12" name="Detail">
            <a:extLst>
              <a:ext uri="{FF2B5EF4-FFF2-40B4-BE49-F238E27FC236}">
                <a16:creationId xmlns:a16="http://schemas.microsoft.com/office/drawing/2014/main" id="{48A68C07-213F-FBD7-AACB-E52336862D52}"/>
              </a:ext>
            </a:extLst>
          </p:cNvPr>
          <p:cNvSpPr>
            <a:spLocks noGrp="1"/>
          </p:cNvSpPr>
          <p:nvPr/>
        </p:nvSpPr>
        <p:spPr>
          <a:xfrm>
            <a:off x="1428750" y="5057775"/>
            <a:ext cx="4362450" cy="685800"/>
          </a:xfrm>
          <a:prstGeom prst="rect">
            <a:avLst/>
          </a:prstGeom>
          <a:noFill/>
          <a:ln w="0">
            <a:noFill/>
          </a:ln>
        </p:spPr>
        <p:txBody>
          <a:bodyPr lIns="0" tIns="0" rIns="0" bIns="0"/>
          <a:lstStyle>
            <a:defPPr>
              <a:defRPr sz="1800" b="0">
                <a:solidFill>
                  <a:srgbClr val="B0BFCA"/>
                </a:solidFill>
              </a:defRPr>
            </a:defPPr>
            <a:lvl1pPr>
              <a:defRPr sz="1800" b="0">
                <a:solidFill>
                  <a:srgbClr val="B0BFCA"/>
                </a:solidFill>
              </a:defRPr>
            </a:lvl1pPr>
            <a:lvl2pPr>
              <a:defRPr sz="1800" b="0">
                <a:solidFill>
                  <a:srgbClr val="B0BFCA"/>
                </a:solidFill>
              </a:defRPr>
            </a:lvl2pPr>
            <a:lvl3pPr>
              <a:defRPr sz="1800" b="0">
                <a:solidFill>
                  <a:srgbClr val="B0BFCA"/>
                </a:solidFill>
              </a:defRPr>
            </a:lvl3pPr>
            <a:lvl4pPr>
              <a:defRPr sz="1800" b="0">
                <a:solidFill>
                  <a:srgbClr val="B0BFCA"/>
                </a:solidFill>
              </a:defRPr>
            </a:lvl4pPr>
            <a:lvl5pPr>
              <a:defRPr sz="1800" b="0">
                <a:solidFill>
                  <a:srgbClr val="B0BFCA"/>
                </a:solidFill>
              </a:defRPr>
            </a:lvl5pPr>
            <a:lvl6pPr>
              <a:defRPr sz="1800" b="0">
                <a:solidFill>
                  <a:srgbClr val="B0BFCA"/>
                </a:solidFill>
              </a:defRPr>
            </a:lvl6pPr>
            <a:lvl7pPr>
              <a:defRPr sz="1800" b="0">
                <a:solidFill>
                  <a:srgbClr val="B0BFCA"/>
                </a:solidFill>
              </a:defRPr>
            </a:lvl7pPr>
            <a:lvl8pPr>
              <a:defRPr sz="1800" b="0">
                <a:solidFill>
                  <a:srgbClr val="B0BFCA"/>
                </a:solidFill>
              </a:defRPr>
            </a:lvl8pPr>
            <a:lvl9pPr>
              <a:defRPr sz="1800" b="0">
                <a:solidFill>
                  <a:srgbClr val="B0BFCA"/>
                </a:solidFill>
              </a:defRPr>
            </a:lvl9pPr>
          </a:lstStyle>
          <a:p>
            <a:pPr>
              <a:defRPr sz="1800" b="0">
                <a:solidFill>
                  <a:srgbClr val="B0BFCA"/>
                </a:solidFill>
              </a:defRPr>
            </a:pPr>
            <a:endParaRPr sz="1800" b="0">
              <a:solidFill>
                <a:srgbClr val="B0BFCA"/>
              </a:solidFill>
            </a:endParaRPr>
          </a:p>
        </p:txBody>
      </p:sp>
    </p:spTree>
    <p:extLst>
      <p:ext uri="{BB962C8B-B14F-4D97-AF65-F5344CB8AC3E}">
        <p14:creationId xmlns:p14="http://schemas.microsoft.com/office/powerpoint/2010/main" val="27526410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B2A"/>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D6395B3A-8C8B-414B-B51B-C6A744BDE721}"/>
              </a:ext>
            </a:extLst>
          </p:cNvPr>
          <p:cNvSpPr>
            <a:spLocks noGrp="1"/>
          </p:cNvSpPr>
          <p:nvPr/>
        </p:nvSpPr>
        <p:spPr>
          <a:xfrm>
            <a:off x="609600" y="495300"/>
            <a:ext cx="10972800" cy="685800"/>
          </a:xfrm>
          <a:prstGeom prst="rect">
            <a:avLst/>
          </a:prstGeom>
          <a:noFill/>
          <a:ln w="0">
            <a:noFill/>
          </a:ln>
        </p:spPr>
        <p:txBody>
          <a:bodyPr lIns="0" tIns="0" rIns="0" bIns="0"/>
          <a:lstStyle>
            <a:defPPr>
              <a:defRPr sz="3600" b="1">
                <a:solidFill>
                  <a:srgbClr val="FFFFFF"/>
                </a:solidFill>
              </a:defRPr>
            </a:defPPr>
            <a:lvl1pPr>
              <a:defRPr sz="3600" b="1">
                <a:solidFill>
                  <a:srgbClr val="FFFFFF"/>
                </a:solidFill>
              </a:defRPr>
            </a:lvl1pPr>
            <a:lvl2pPr>
              <a:defRPr sz="3600" b="1">
                <a:solidFill>
                  <a:srgbClr val="FFFFFF"/>
                </a:solidFill>
              </a:defRPr>
            </a:lvl2pPr>
            <a:lvl3pPr>
              <a:defRPr sz="3600" b="1">
                <a:solidFill>
                  <a:srgbClr val="FFFFFF"/>
                </a:solidFill>
              </a:defRPr>
            </a:lvl3pPr>
            <a:lvl4pPr>
              <a:defRPr sz="3600" b="1">
                <a:solidFill>
                  <a:srgbClr val="FFFFFF"/>
                </a:solidFill>
              </a:defRPr>
            </a:lvl4pPr>
            <a:lvl5pPr>
              <a:defRPr sz="3600" b="1">
                <a:solidFill>
                  <a:srgbClr val="FFFFFF"/>
                </a:solidFill>
              </a:defRPr>
            </a:lvl5pPr>
            <a:lvl6pPr>
              <a:defRPr sz="3600" b="1">
                <a:solidFill>
                  <a:srgbClr val="FFFFFF"/>
                </a:solidFill>
              </a:defRPr>
            </a:lvl6pPr>
            <a:lvl7pPr>
              <a:defRPr sz="3600" b="1">
                <a:solidFill>
                  <a:srgbClr val="FFFFFF"/>
                </a:solidFill>
              </a:defRPr>
            </a:lvl7pPr>
            <a:lvl8pPr>
              <a:defRPr sz="3600" b="1">
                <a:solidFill>
                  <a:srgbClr val="FFFFFF"/>
                </a:solidFill>
              </a:defRPr>
            </a:lvl8pPr>
            <a:lvl9pPr>
              <a:defRPr sz="3600" b="1">
                <a:solidFill>
                  <a:srgbClr val="FFFFFF"/>
                </a:solidFill>
              </a:defRPr>
            </a:lvl9pPr>
          </a:lstStyle>
          <a:p>
            <a:pPr>
              <a:defRPr sz="3600" b="1">
                <a:solidFill>
                  <a:srgbClr val="FFFFFF"/>
                </a:solidFill>
              </a:defRPr>
            </a:pPr>
            <a:r>
              <a:rPr sz="3600" b="1">
                <a:solidFill>
                  <a:srgbClr val="FFFFFF"/>
                </a:solidFill>
              </a:rPr>
              <a:t>Explore SWOOP</a:t>
            </a:r>
          </a:p>
        </p:txBody>
      </p:sp>
      <p:sp>
        <p:nvSpPr>
          <p:cNvPr id="3" name="Page">
            <a:extLst>
              <a:ext uri="{FF2B5EF4-FFF2-40B4-BE49-F238E27FC236}">
                <a16:creationId xmlns:a16="http://schemas.microsoft.com/office/drawing/2014/main" id="{06ECEDB3-284B-45A8-8F1A-AAE2F92C1AB7}"/>
              </a:ext>
            </a:extLst>
          </p:cNvPr>
          <p:cNvSpPr>
            <a:spLocks noGrp="1"/>
          </p:cNvSpPr>
          <p:nvPr/>
        </p:nvSpPr>
        <p:spPr>
          <a:xfrm>
            <a:off x="11115675" y="6362700"/>
            <a:ext cx="476250" cy="238125"/>
          </a:xfrm>
          <a:prstGeom prst="rect">
            <a:avLst/>
          </a:prstGeom>
          <a:noFill/>
          <a:ln w="0">
            <a:noFill/>
          </a:ln>
        </p:spPr>
        <p:txBody>
          <a:bodyPr lIns="0" tIns="0" rIns="0" bIns="0"/>
          <a:lstStyle>
            <a:defPPr>
              <a:defRPr sz="1275" b="0">
                <a:solidFill>
                  <a:srgbClr val="91A9B9"/>
                </a:solidFill>
              </a:defRPr>
            </a:defPPr>
            <a:lvl1pPr>
              <a:defRPr sz="1275" b="0">
                <a:solidFill>
                  <a:srgbClr val="91A9B9"/>
                </a:solidFill>
              </a:defRPr>
            </a:lvl1pPr>
            <a:lvl2pPr>
              <a:defRPr sz="1275" b="0">
                <a:solidFill>
                  <a:srgbClr val="91A9B9"/>
                </a:solidFill>
              </a:defRPr>
            </a:lvl2pPr>
            <a:lvl3pPr>
              <a:defRPr sz="1275" b="0">
                <a:solidFill>
                  <a:srgbClr val="91A9B9"/>
                </a:solidFill>
              </a:defRPr>
            </a:lvl3pPr>
            <a:lvl4pPr>
              <a:defRPr sz="1275" b="0">
                <a:solidFill>
                  <a:srgbClr val="91A9B9"/>
                </a:solidFill>
              </a:defRPr>
            </a:lvl4pPr>
            <a:lvl5pPr>
              <a:defRPr sz="1275" b="0">
                <a:solidFill>
                  <a:srgbClr val="91A9B9"/>
                </a:solidFill>
              </a:defRPr>
            </a:lvl5pPr>
            <a:lvl6pPr>
              <a:defRPr sz="1275" b="0">
                <a:solidFill>
                  <a:srgbClr val="91A9B9"/>
                </a:solidFill>
              </a:defRPr>
            </a:lvl6pPr>
            <a:lvl7pPr>
              <a:defRPr sz="1275" b="0">
                <a:solidFill>
                  <a:srgbClr val="91A9B9"/>
                </a:solidFill>
              </a:defRPr>
            </a:lvl7pPr>
            <a:lvl8pPr>
              <a:defRPr sz="1275" b="0">
                <a:solidFill>
                  <a:srgbClr val="91A9B9"/>
                </a:solidFill>
              </a:defRPr>
            </a:lvl8pPr>
            <a:lvl9pPr>
              <a:defRPr sz="1275" b="0">
                <a:solidFill>
                  <a:srgbClr val="91A9B9"/>
                </a:solidFill>
              </a:defRPr>
            </a:lvl9pPr>
          </a:lstStyle>
          <a:p>
            <a:pPr>
              <a:defRPr sz="1275" b="0">
                <a:solidFill>
                  <a:srgbClr val="91A9B9"/>
                </a:solidFill>
              </a:defRPr>
            </a:pPr>
            <a:r>
              <a:rPr lang="en-US"/>
              <a:t>11</a:t>
            </a:r>
            <a:endParaRPr sz="1275" b="0">
              <a:solidFill>
                <a:srgbClr val="91A9B9"/>
              </a:solidFill>
            </a:endParaRPr>
          </a:p>
        </p:txBody>
      </p:sp>
      <p:sp>
        <p:nvSpPr>
          <p:cNvPr id="5" name="GitHub label">
            <a:extLst>
              <a:ext uri="{FF2B5EF4-FFF2-40B4-BE49-F238E27FC236}">
                <a16:creationId xmlns:a16="http://schemas.microsoft.com/office/drawing/2014/main" id="{820B70EE-CA7F-4486-A344-580B271708BA}"/>
              </a:ext>
            </a:extLst>
          </p:cNvPr>
          <p:cNvSpPr>
            <a:spLocks noGrp="1"/>
          </p:cNvSpPr>
          <p:nvPr/>
        </p:nvSpPr>
        <p:spPr>
          <a:xfrm>
            <a:off x="609600" y="2657475"/>
            <a:ext cx="6667500" cy="295275"/>
          </a:xfrm>
          <a:prstGeom prst="rect">
            <a:avLst/>
          </a:prstGeom>
          <a:noFill/>
          <a:ln w="0">
            <a:noFill/>
          </a:ln>
        </p:spPr>
        <p:txBody>
          <a:bodyPr lIns="0" tIns="0" rIns="0" bIns="0"/>
          <a:lstStyle>
            <a:defPPr>
              <a:defRPr sz="1650" b="1">
                <a:solidFill>
                  <a:srgbClr val="EB772D"/>
                </a:solidFill>
              </a:defRPr>
            </a:defPPr>
            <a:lvl1pPr>
              <a:defRPr sz="1650" b="1">
                <a:solidFill>
                  <a:srgbClr val="EB772D"/>
                </a:solidFill>
              </a:defRPr>
            </a:lvl1pPr>
            <a:lvl2pPr>
              <a:defRPr sz="1650" b="1">
                <a:solidFill>
                  <a:srgbClr val="EB772D"/>
                </a:solidFill>
              </a:defRPr>
            </a:lvl2pPr>
            <a:lvl3pPr>
              <a:defRPr sz="1650" b="1">
                <a:solidFill>
                  <a:srgbClr val="EB772D"/>
                </a:solidFill>
              </a:defRPr>
            </a:lvl3pPr>
            <a:lvl4pPr>
              <a:defRPr sz="1650" b="1">
                <a:solidFill>
                  <a:srgbClr val="EB772D"/>
                </a:solidFill>
              </a:defRPr>
            </a:lvl4pPr>
            <a:lvl5pPr>
              <a:defRPr sz="1650" b="1">
                <a:solidFill>
                  <a:srgbClr val="EB772D"/>
                </a:solidFill>
              </a:defRPr>
            </a:lvl5pPr>
            <a:lvl6pPr>
              <a:defRPr sz="1650" b="1">
                <a:solidFill>
                  <a:srgbClr val="EB772D"/>
                </a:solidFill>
              </a:defRPr>
            </a:lvl6pPr>
            <a:lvl7pPr>
              <a:defRPr sz="1650" b="1">
                <a:solidFill>
                  <a:srgbClr val="EB772D"/>
                </a:solidFill>
              </a:defRPr>
            </a:lvl7pPr>
            <a:lvl8pPr>
              <a:defRPr sz="1650" b="1">
                <a:solidFill>
                  <a:srgbClr val="EB772D"/>
                </a:solidFill>
              </a:defRPr>
            </a:lvl8pPr>
            <a:lvl9pPr>
              <a:defRPr sz="1650" b="1">
                <a:solidFill>
                  <a:srgbClr val="EB772D"/>
                </a:solidFill>
              </a:defRPr>
            </a:lvl9pPr>
          </a:lstStyle>
          <a:p>
            <a:pPr>
              <a:defRPr sz="1650" b="1">
                <a:solidFill>
                  <a:srgbClr val="EB772D"/>
                </a:solidFill>
              </a:defRPr>
            </a:pPr>
            <a:r>
              <a:rPr sz="1650" b="1">
                <a:solidFill>
                  <a:srgbClr val="EB772D"/>
                </a:solidFill>
              </a:rPr>
              <a:t>GITHUB</a:t>
            </a:r>
          </a:p>
        </p:txBody>
      </p:sp>
      <p:sp>
        <p:nvSpPr>
          <p:cNvPr id="6" name="GitHub link">
            <a:extLst>
              <a:ext uri="{FF2B5EF4-FFF2-40B4-BE49-F238E27FC236}">
                <a16:creationId xmlns:a16="http://schemas.microsoft.com/office/drawing/2014/main" id="{C74518A5-ACCA-46C1-A1EC-D0A935D721DE}"/>
              </a:ext>
            </a:extLst>
          </p:cNvPr>
          <p:cNvSpPr>
            <a:spLocks noGrp="1"/>
          </p:cNvSpPr>
          <p:nvPr/>
        </p:nvSpPr>
        <p:spPr>
          <a:xfrm>
            <a:off x="609600" y="3114675"/>
            <a:ext cx="5185410" cy="519430"/>
          </a:xfrm>
          <a:prstGeom prst="rect">
            <a:avLst/>
          </a:prstGeom>
          <a:noFill/>
          <a:ln w="0">
            <a:noFill/>
          </a:ln>
        </p:spPr>
        <p:txBody>
          <a:bodyPr lIns="0" tIns="0" rIns="0" bIns="0" anchor="t"/>
          <a:lstStyle>
            <a:defPPr>
              <a:defRPr sz="2175" b="0">
                <a:solidFill>
                  <a:srgbClr val="FFFFFF"/>
                </a:solidFill>
              </a:defRPr>
            </a:defPPr>
            <a:lvl1pPr>
              <a:defRPr sz="2175" b="0">
                <a:solidFill>
                  <a:srgbClr val="FFFFFF"/>
                </a:solidFill>
              </a:defRPr>
            </a:lvl1pPr>
            <a:lvl2pPr>
              <a:defRPr sz="2175" b="0">
                <a:solidFill>
                  <a:srgbClr val="FFFFFF"/>
                </a:solidFill>
              </a:defRPr>
            </a:lvl2pPr>
            <a:lvl3pPr>
              <a:defRPr sz="2175" b="0">
                <a:solidFill>
                  <a:srgbClr val="FFFFFF"/>
                </a:solidFill>
              </a:defRPr>
            </a:lvl3pPr>
            <a:lvl4pPr>
              <a:defRPr sz="2175" b="0">
                <a:solidFill>
                  <a:srgbClr val="FFFFFF"/>
                </a:solidFill>
              </a:defRPr>
            </a:lvl4pPr>
            <a:lvl5pPr>
              <a:defRPr sz="2175" b="0">
                <a:solidFill>
                  <a:srgbClr val="FFFFFF"/>
                </a:solidFill>
              </a:defRPr>
            </a:lvl5pPr>
            <a:lvl6pPr>
              <a:defRPr sz="2175" b="0">
                <a:solidFill>
                  <a:srgbClr val="FFFFFF"/>
                </a:solidFill>
              </a:defRPr>
            </a:lvl6pPr>
            <a:lvl7pPr>
              <a:defRPr sz="2175" b="0">
                <a:solidFill>
                  <a:srgbClr val="FFFFFF"/>
                </a:solidFill>
              </a:defRPr>
            </a:lvl7pPr>
            <a:lvl8pPr>
              <a:defRPr sz="2175" b="0">
                <a:solidFill>
                  <a:srgbClr val="FFFFFF"/>
                </a:solidFill>
              </a:defRPr>
            </a:lvl8pPr>
            <a:lvl9pPr>
              <a:defRPr sz="2175" b="0">
                <a:solidFill>
                  <a:srgbClr val="FFFFFF"/>
                </a:solidFill>
              </a:defRPr>
            </a:lvl9pPr>
          </a:lstStyle>
          <a:p>
            <a:pPr>
              <a:defRPr sz="2175" b="0">
                <a:solidFill>
                  <a:srgbClr val="FFFFFF"/>
                </a:solidFill>
              </a:defRPr>
            </a:pPr>
            <a:r>
              <a:rPr lang="en-US" sz="2150" err="1">
                <a:ea typeface="+mn-lt"/>
                <a:cs typeface="+mn-lt"/>
                <a:hlinkClick r:id="rId3"/>
              </a:rPr>
              <a:t>shearload</a:t>
            </a:r>
            <a:r>
              <a:rPr lang="en-US" sz="2150" b="0">
                <a:solidFill>
                  <a:srgbClr val="FFFFFF"/>
                </a:solidFill>
                <a:ea typeface="+mn-lt"/>
                <a:cs typeface="+mn-lt"/>
                <a:hlinkClick r:id="rId3"/>
              </a:rPr>
              <a:t>/</a:t>
            </a:r>
            <a:r>
              <a:rPr lang="en-US" sz="2150">
                <a:ea typeface="+mn-lt"/>
                <a:cs typeface="+mn-lt"/>
                <a:hlinkClick r:id="rId3"/>
              </a:rPr>
              <a:t>se-hackathon-point-tower: NCSEA Hackathon project</a:t>
            </a:r>
            <a:endParaRPr lang="en-US"/>
          </a:p>
        </p:txBody>
      </p:sp>
      <p:sp>
        <p:nvSpPr>
          <p:cNvPr id="9" name="Image placeholder: [Project QR code]">
            <a:extLst>
              <a:ext uri="{FF2B5EF4-FFF2-40B4-BE49-F238E27FC236}">
                <a16:creationId xmlns:a16="http://schemas.microsoft.com/office/drawing/2014/main" id="{52E383DA-09CE-42E6-823F-2B06063760C3}"/>
              </a:ext>
            </a:extLst>
          </p:cNvPr>
          <p:cNvSpPr>
            <a:spLocks noGrp="1"/>
          </p:cNvSpPr>
          <p:nvPr/>
        </p:nvSpPr>
        <p:spPr>
          <a:xfrm>
            <a:off x="8343900" y="2276475"/>
            <a:ext cx="3048000" cy="3048000"/>
          </a:xfrm>
          <a:prstGeom prst="rect">
            <a:avLst/>
          </a:prstGeom>
          <a:solidFill>
            <a:srgbClr val="122C3D"/>
          </a:solidFill>
          <a:ln w="9525">
            <a:solidFill>
              <a:srgbClr val="335164"/>
            </a:solidFill>
          </a:ln>
        </p:spPr>
        <p:txBody>
          <a:bodyPr/>
          <a:lstStyle/>
          <a:p>
            <a:endParaRPr lang="en-US"/>
          </a:p>
        </p:txBody>
      </p:sp>
      <p:pic>
        <p:nvPicPr>
          <p:cNvPr id="14" name="Picture 13">
            <a:extLst>
              <a:ext uri="{FF2B5EF4-FFF2-40B4-BE49-F238E27FC236}">
                <a16:creationId xmlns:a16="http://schemas.microsoft.com/office/drawing/2014/main" id="{D4E15514-4C3D-CE39-D25F-47B1B3A6FE91}"/>
              </a:ext>
            </a:extLst>
          </p:cNvPr>
          <p:cNvPicPr>
            <a:picLocks noChangeAspect="1"/>
          </p:cNvPicPr>
          <p:nvPr/>
        </p:nvPicPr>
        <p:blipFill>
          <a:blip r:embed="rId4"/>
          <a:stretch>
            <a:fillRect/>
          </a:stretch>
        </p:blipFill>
        <p:spPr>
          <a:xfrm>
            <a:off x="8533042" y="2466954"/>
            <a:ext cx="2689415" cy="2676546"/>
          </a:xfrm>
          <a:prstGeom prst="rect">
            <a:avLst/>
          </a:prstGeom>
        </p:spPr>
      </p:pic>
    </p:spTree>
    <p:extLst>
      <p:ext uri="{BB962C8B-B14F-4D97-AF65-F5344CB8AC3E}">
        <p14:creationId xmlns:p14="http://schemas.microsoft.com/office/powerpoint/2010/main" val="643846231"/>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11</Slides>
  <Notes>11</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revision>2</cp:revision>
  <dcterms:created xsi:type="dcterms:W3CDTF">2026-10-27T21:17:57Z</dcterms:created>
  <dcterms:modified xsi:type="dcterms:W3CDTF">2026-10-28T01:25:45Z</dcterms:modified>
</cp:coreProperties>
</file>